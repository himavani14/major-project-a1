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229" r:id="rId1"/>
  </p:sldMasterIdLst>
  <p:notesMasterIdLst>
    <p:notesMasterId r:id="rId20"/>
  </p:notesMasterIdLst>
  <p:sldIdLst>
    <p:sldId id="306" r:id="rId2"/>
    <p:sldId id="295" r:id="rId3"/>
    <p:sldId id="270" r:id="rId4"/>
    <p:sldId id="273" r:id="rId5"/>
    <p:sldId id="274" r:id="rId6"/>
    <p:sldId id="320" r:id="rId7"/>
    <p:sldId id="321" r:id="rId8"/>
    <p:sldId id="276" r:id="rId9"/>
    <p:sldId id="296" r:id="rId10"/>
    <p:sldId id="318" r:id="rId11"/>
    <p:sldId id="305" r:id="rId12"/>
    <p:sldId id="315" r:id="rId13"/>
    <p:sldId id="314" r:id="rId14"/>
    <p:sldId id="311" r:id="rId15"/>
    <p:sldId id="312" r:id="rId16"/>
    <p:sldId id="313" r:id="rId17"/>
    <p:sldId id="309" r:id="rId18"/>
    <p:sldId id="278" r:id="rId19"/>
  </p:sldIdLst>
  <p:sldSz cx="18288000" cy="10287000"/>
  <p:notesSz cx="6858000" cy="9144000"/>
  <p:embeddedFontLst>
    <p:embeddedFont>
      <p:font typeface="Bell MT" panose="02020503060305020303" pitchFamily="18" charset="0"/>
      <p:regular r:id="rId21"/>
      <p:bold r:id="rId22"/>
      <p:italic r:id="rId23"/>
    </p:embeddedFont>
    <p:embeddedFont>
      <p:font typeface="Corbel" panose="020B0503020204020204" pitchFamily="34" charset="0"/>
      <p:regular r:id="rId24"/>
      <p:bold r:id="rId25"/>
      <p:italic r:id="rId26"/>
      <p:boldItalic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82" autoAdjust="0"/>
    <p:restoredTop sz="94660"/>
  </p:normalViewPr>
  <p:slideViewPr>
    <p:cSldViewPr snapToGrid="0">
      <p:cViewPr varScale="1">
        <p:scale>
          <a:sx n="42" d="100"/>
          <a:sy n="42" d="100"/>
        </p:scale>
        <p:origin x="680"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58"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59"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60"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txBody>
          <a:bodyPr/>
          <a:lstStyle/>
          <a:p>
            <a:endParaRPr lang="en-IN"/>
          </a:p>
        </p:txBody>
      </p:sp>
      <p:sp>
        <p:nvSpPr>
          <p:cNvPr id="1048761"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2"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63"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347156486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9A0EA98-5831-4853-B862-C702E6EB345C}" type="slidenum">
              <a:rPr lang="en-US" smtClean="0"/>
              <a:t>3</a:t>
            </a:fld>
            <a:endParaRPr lang="en-US"/>
          </a:p>
        </p:txBody>
      </p:sp>
    </p:spTree>
    <p:extLst>
      <p:ext uri="{BB962C8B-B14F-4D97-AF65-F5344CB8AC3E}">
        <p14:creationId xmlns:p14="http://schemas.microsoft.com/office/powerpoint/2010/main" val="4112701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9A0EA98-5831-4853-B862-C702E6EB345C}" type="slidenum">
              <a:rPr lang="en-US" smtClean="0"/>
              <a:t>9</a:t>
            </a:fld>
            <a:endParaRPr lang="en-US"/>
          </a:p>
        </p:txBody>
      </p:sp>
    </p:spTree>
    <p:extLst>
      <p:ext uri="{BB962C8B-B14F-4D97-AF65-F5344CB8AC3E}">
        <p14:creationId xmlns:p14="http://schemas.microsoft.com/office/powerpoint/2010/main" val="1270986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346710" y="365761"/>
            <a:ext cx="17586960" cy="956690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64970" y="1323564"/>
            <a:ext cx="14950440" cy="4389120"/>
          </a:xfrm>
        </p:spPr>
        <p:txBody>
          <a:bodyPr anchor="b">
            <a:normAutofit/>
          </a:bodyPr>
          <a:lstStyle>
            <a:lvl1pPr algn="ctr">
              <a:lnSpc>
                <a:spcPct val="85000"/>
              </a:lnSpc>
              <a:defRPr sz="108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2564295" y="5804452"/>
            <a:ext cx="13151790" cy="2082248"/>
          </a:xfrm>
        </p:spPr>
        <p:txBody>
          <a:bodyPr>
            <a:normAutofit/>
          </a:bodyPr>
          <a:lstStyle>
            <a:lvl1pPr marL="0" indent="0" algn="ctr">
              <a:buNone/>
              <a:defRPr sz="3300">
                <a:solidFill>
                  <a:srgbClr val="FFFFFF"/>
                </a:solidFill>
              </a:defRPr>
            </a:lvl1pPr>
            <a:lvl2pPr marL="685800" indent="0" algn="ctr">
              <a:buNone/>
              <a:defRPr sz="3300"/>
            </a:lvl2pPr>
            <a:lvl3pPr marL="1371600" indent="0" algn="ctr">
              <a:buNone/>
              <a:defRPr sz="33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D8BD707-D9CF-40AE-B4C6-C98DA3205C09}" type="datetimeFigureOut">
              <a:rPr lang="en-US" smtClean="0"/>
              <a:t>2/3/2026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t>‹#›</a:t>
            </a:fld>
            <a:endParaRPr lang="en-US"/>
          </a:p>
        </p:txBody>
      </p:sp>
      <p:cxnSp>
        <p:nvCxnSpPr>
          <p:cNvPr id="8" name="Straight Connector 7"/>
          <p:cNvCxnSpPr/>
          <p:nvPr/>
        </p:nvCxnSpPr>
        <p:spPr>
          <a:xfrm>
            <a:off x="2967991" y="5600700"/>
            <a:ext cx="12344402"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269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885826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59636" y="1760363"/>
            <a:ext cx="14950440" cy="4389120"/>
          </a:xfrm>
        </p:spPr>
        <p:txBody>
          <a:bodyPr anchor="b">
            <a:noAutofit/>
          </a:bodyPr>
          <a:lstStyle>
            <a:lvl1pPr algn="ctr">
              <a:lnSpc>
                <a:spcPct val="85000"/>
              </a:lnSpc>
              <a:defRPr sz="108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2564892" y="6231780"/>
            <a:ext cx="13153644" cy="2045709"/>
          </a:xfrm>
        </p:spPr>
        <p:txBody>
          <a:bodyPr anchor="t">
            <a:normAutofit/>
          </a:bodyPr>
          <a:lstStyle>
            <a:lvl1pPr marL="0" indent="0" algn="ctr">
              <a:buNone/>
              <a:defRPr sz="3300">
                <a:solidFill>
                  <a:schemeClr val="accent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7" name="Straight Connector 6"/>
          <p:cNvCxnSpPr/>
          <p:nvPr/>
        </p:nvCxnSpPr>
        <p:spPr>
          <a:xfrm>
            <a:off x="2971801" y="6030612"/>
            <a:ext cx="1234440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0282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14500" y="3086098"/>
            <a:ext cx="7132320" cy="6035040"/>
          </a:xfrm>
        </p:spPr>
        <p:txBody>
          <a:bodyPr/>
          <a:lstStyle>
            <a:lvl1pPr>
              <a:defRPr sz="33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401418" y="3086100"/>
            <a:ext cx="7132320" cy="6035040"/>
          </a:xfrm>
        </p:spPr>
        <p:txBody>
          <a:bodyPr/>
          <a:lstStyle>
            <a:lvl1pPr>
              <a:defRPr sz="33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03810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714500" y="3002266"/>
            <a:ext cx="7132320" cy="1165860"/>
          </a:xfrm>
        </p:spPr>
        <p:txBody>
          <a:bodyPr anchor="ctr"/>
          <a:lstStyle>
            <a:lvl1pPr marL="0" indent="0">
              <a:spcBef>
                <a:spcPts val="0"/>
              </a:spcBef>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714500" y="4082225"/>
            <a:ext cx="7132320" cy="5074920"/>
          </a:xfrm>
        </p:spPr>
        <p:txBody>
          <a:bodyPr/>
          <a:lstStyle>
            <a:lvl1pPr>
              <a:defRPr sz="33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403760" y="2998548"/>
            <a:ext cx="7132320" cy="1165860"/>
          </a:xfrm>
        </p:spPr>
        <p:txBody>
          <a:bodyPr anchor="ctr"/>
          <a:lstStyle>
            <a:lvl1pPr marL="0" indent="0">
              <a:spcBef>
                <a:spcPts val="0"/>
              </a:spcBef>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403760" y="4078983"/>
            <a:ext cx="7132320" cy="5074920"/>
          </a:xfrm>
        </p:spPr>
        <p:txBody>
          <a:bodyPr/>
          <a:lstStyle>
            <a:lvl1pPr>
              <a:defRPr sz="33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3405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00897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28360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4500" y="1645920"/>
            <a:ext cx="5897880" cy="2606040"/>
          </a:xfrm>
        </p:spPr>
        <p:txBody>
          <a:bodyPr anchor="b">
            <a:noAutofit/>
          </a:bodyPr>
          <a:lstStyle>
            <a:lvl1pPr>
              <a:lnSpc>
                <a:spcPct val="90000"/>
              </a:lnSpc>
              <a:defRPr sz="6000" b="0"/>
            </a:lvl1pPr>
          </a:lstStyle>
          <a:p>
            <a:r>
              <a:rPr lang="en-US"/>
              <a:t>Click to edit Master title style</a:t>
            </a:r>
            <a:endParaRPr lang="en-US" dirty="0"/>
          </a:p>
        </p:txBody>
      </p:sp>
      <p:sp>
        <p:nvSpPr>
          <p:cNvPr id="3" name="Content Placeholder 2"/>
          <p:cNvSpPr>
            <a:spLocks noGrp="1"/>
          </p:cNvSpPr>
          <p:nvPr>
            <p:ph idx="1"/>
          </p:nvPr>
        </p:nvSpPr>
        <p:spPr>
          <a:xfrm>
            <a:off x="8778239" y="1645920"/>
            <a:ext cx="7818120" cy="6995160"/>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14500" y="4251960"/>
            <a:ext cx="5897880" cy="4526280"/>
          </a:xfrm>
        </p:spPr>
        <p:txBody>
          <a:bodyPr>
            <a:normAutofit/>
          </a:bodyPr>
          <a:lstStyle>
            <a:lvl1pPr marL="0" indent="0">
              <a:lnSpc>
                <a:spcPct val="100000"/>
              </a:lnSpc>
              <a:spcBef>
                <a:spcPts val="1500"/>
              </a:spcBef>
              <a:buNone/>
              <a:defRPr sz="255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92670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4500" y="1645920"/>
            <a:ext cx="5897880" cy="2606040"/>
          </a:xfrm>
        </p:spPr>
        <p:txBody>
          <a:bodyPr anchor="b">
            <a:noAutofit/>
          </a:bodyPr>
          <a:lstStyle>
            <a:lvl1pPr>
              <a:lnSpc>
                <a:spcPct val="90000"/>
              </a:lnSpc>
              <a:defRPr sz="6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19872" y="1604771"/>
            <a:ext cx="9148572" cy="7200900"/>
          </a:xfrm>
        </p:spPr>
        <p:txBody>
          <a:bodyPr lIns="274320" tIns="182880" anchor="t">
            <a:normAutofit/>
          </a:bodyPr>
          <a:lstStyle>
            <a:lvl1pPr marL="0" indent="0">
              <a:buNone/>
              <a:defRPr sz="42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714500" y="4251960"/>
            <a:ext cx="5897880" cy="4320540"/>
          </a:xfrm>
        </p:spPr>
        <p:txBody>
          <a:bodyPr>
            <a:normAutofit/>
          </a:bodyPr>
          <a:lstStyle>
            <a:lvl1pPr marL="0" indent="0">
              <a:lnSpc>
                <a:spcPct val="100000"/>
              </a:lnSpc>
              <a:spcBef>
                <a:spcPts val="1500"/>
              </a:spcBef>
              <a:buNone/>
              <a:defRPr sz="255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83058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15108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1143000"/>
            <a:ext cx="3486150" cy="81153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14500" y="1143000"/>
            <a:ext cx="11144250" cy="8115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70194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346710" y="365761"/>
            <a:ext cx="17586960" cy="956690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714500" y="914400"/>
            <a:ext cx="14813280" cy="20345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14501" y="3086100"/>
            <a:ext cx="14809307" cy="60579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14494" y="9335743"/>
            <a:ext cx="3493611" cy="547688"/>
          </a:xfrm>
          <a:prstGeom prst="rect">
            <a:avLst/>
          </a:prstGeom>
        </p:spPr>
        <p:txBody>
          <a:bodyPr vert="horz" lIns="91440" tIns="45720" rIns="91440" bIns="45720" rtlCol="0" anchor="ctr"/>
          <a:lstStyle>
            <a:lvl1pPr algn="l">
              <a:defRPr sz="1800">
                <a:solidFill>
                  <a:schemeClr val="accent1"/>
                </a:solidFill>
              </a:defRPr>
            </a:lvl1pPr>
          </a:lstStyle>
          <a:p>
            <a:fld id="{1D8BD707-D9CF-40AE-B4C6-C98DA3205C09}" type="datetimeFigureOut">
              <a:rPr lang="en-US" smtClean="0"/>
              <a:t>2/3/2026</a:t>
            </a:fld>
            <a:endParaRPr lang="en-US"/>
          </a:p>
        </p:txBody>
      </p:sp>
      <p:sp>
        <p:nvSpPr>
          <p:cNvPr id="5" name="Footer Placeholder 4"/>
          <p:cNvSpPr>
            <a:spLocks noGrp="1"/>
          </p:cNvSpPr>
          <p:nvPr>
            <p:ph type="ftr" sz="quarter" idx="3"/>
          </p:nvPr>
        </p:nvSpPr>
        <p:spPr>
          <a:xfrm>
            <a:off x="5923722" y="9335743"/>
            <a:ext cx="7076661" cy="547688"/>
          </a:xfrm>
          <a:prstGeom prst="rect">
            <a:avLst/>
          </a:prstGeom>
        </p:spPr>
        <p:txBody>
          <a:bodyPr vert="horz" lIns="91440" tIns="45720" rIns="91440" bIns="45720" rtlCol="0" anchor="ctr"/>
          <a:lstStyle>
            <a:lvl1pPr algn="ctr">
              <a:defRPr sz="1800">
                <a:solidFill>
                  <a:schemeClr val="accent1"/>
                </a:solidFill>
              </a:defRPr>
            </a:lvl1pPr>
          </a:lstStyle>
          <a:p>
            <a:endParaRPr lang="en-US"/>
          </a:p>
        </p:txBody>
      </p:sp>
      <p:sp>
        <p:nvSpPr>
          <p:cNvPr id="6" name="Slide Number Placeholder 5"/>
          <p:cNvSpPr>
            <a:spLocks noGrp="1"/>
          </p:cNvSpPr>
          <p:nvPr>
            <p:ph type="sldNum" sz="quarter" idx="4"/>
          </p:nvPr>
        </p:nvSpPr>
        <p:spPr>
          <a:xfrm>
            <a:off x="13994296" y="9335743"/>
            <a:ext cx="2559326" cy="547688"/>
          </a:xfrm>
          <a:prstGeom prst="rect">
            <a:avLst/>
          </a:prstGeom>
        </p:spPr>
        <p:txBody>
          <a:bodyPr vert="horz" lIns="91440" tIns="45720" rIns="91440" bIns="45720" rtlCol="0" anchor="ctr"/>
          <a:lstStyle>
            <a:lvl1pPr algn="r">
              <a:defRPr sz="1800">
                <a:solidFill>
                  <a:schemeClr val="accent1"/>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596068944"/>
      </p:ext>
    </p:extLst>
  </p:cSld>
  <p:clrMap bg1="lt1" tx1="dk1" bg2="lt2" tx2="dk2" accent1="accent1" accent2="accent2" accent3="accent3" accent4="accent4" accent5="accent5" accent6="accent6" hlink="hlink" folHlink="folHlink"/>
  <p:sldLayoutIdLst>
    <p:sldLayoutId id="2147484230" r:id="rId1"/>
    <p:sldLayoutId id="2147484231" r:id="rId2"/>
    <p:sldLayoutId id="2147484232" r:id="rId3"/>
    <p:sldLayoutId id="2147484233" r:id="rId4"/>
    <p:sldLayoutId id="2147484234" r:id="rId5"/>
    <p:sldLayoutId id="2147484235" r:id="rId6"/>
    <p:sldLayoutId id="2147484236" r:id="rId7"/>
    <p:sldLayoutId id="2147484237" r:id="rId8"/>
    <p:sldLayoutId id="2147484238" r:id="rId9"/>
    <p:sldLayoutId id="2147484239" r:id="rId10"/>
    <p:sldLayoutId id="2147484240" r:id="rId11"/>
  </p:sldLayoutIdLst>
  <p:txStyles>
    <p:titleStyle>
      <a:lvl1pPr algn="l" defTabSz="1371600" rtl="0" eaLnBrk="1" latinLnBrk="0" hangingPunct="1">
        <a:lnSpc>
          <a:spcPct val="90000"/>
        </a:lnSpc>
        <a:spcBef>
          <a:spcPct val="0"/>
        </a:spcBef>
        <a:buNone/>
        <a:defRPr sz="6600" kern="1200">
          <a:solidFill>
            <a:schemeClr val="accent1"/>
          </a:solidFill>
          <a:latin typeface="+mj-lt"/>
          <a:ea typeface="+mj-ea"/>
          <a:cs typeface="+mj-cs"/>
        </a:defRPr>
      </a:lvl1pPr>
    </p:titleStyle>
    <p:bodyStyle>
      <a:lvl1pPr marL="342900" indent="-274320" algn="l" defTabSz="1371600" rtl="0" eaLnBrk="1" latinLnBrk="0" hangingPunct="1">
        <a:lnSpc>
          <a:spcPct val="90000"/>
        </a:lnSpc>
        <a:spcBef>
          <a:spcPts val="2100"/>
        </a:spcBef>
        <a:buClr>
          <a:schemeClr val="accent1"/>
        </a:buClr>
        <a:buSzPct val="80000"/>
        <a:buFont typeface="Corbel" pitchFamily="34" charset="0"/>
        <a:buChar char="•"/>
        <a:defRPr sz="3300" kern="1200">
          <a:solidFill>
            <a:schemeClr val="accent1"/>
          </a:solidFill>
          <a:latin typeface="+mn-lt"/>
          <a:ea typeface="+mn-ea"/>
          <a:cs typeface="+mn-cs"/>
        </a:defRPr>
      </a:lvl1pPr>
      <a:lvl2pPr marL="685800" indent="-27432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3000" kern="1200">
          <a:solidFill>
            <a:schemeClr val="accent1"/>
          </a:solidFill>
          <a:latin typeface="+mn-lt"/>
          <a:ea typeface="+mn-ea"/>
          <a:cs typeface="+mn-cs"/>
        </a:defRPr>
      </a:lvl2pPr>
      <a:lvl3pPr marL="1097280" indent="-27432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700" kern="1200">
          <a:solidFill>
            <a:schemeClr val="accent1"/>
          </a:solidFill>
          <a:latin typeface="+mn-lt"/>
          <a:ea typeface="+mn-ea"/>
          <a:cs typeface="+mn-cs"/>
        </a:defRPr>
      </a:lvl3pPr>
      <a:lvl4pPr marL="1508760" indent="-27432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4pPr>
      <a:lvl5pPr marL="1920240" indent="-27432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5pPr>
      <a:lvl6pPr marL="2400000" indent="-34290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6pPr>
      <a:lvl7pPr marL="2850000" indent="-34290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7pPr>
      <a:lvl8pPr marL="3300000" indent="-34290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8pPr>
      <a:lvl9pPr marL="3750000" indent="-34290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E73367-4499-CEE1-AEDC-F02BCC4977F9}"/>
              </a:ext>
            </a:extLst>
          </p:cNvPr>
          <p:cNvSpPr txBox="1"/>
          <p:nvPr/>
        </p:nvSpPr>
        <p:spPr>
          <a:xfrm>
            <a:off x="1012371" y="359230"/>
            <a:ext cx="16263258" cy="8710077"/>
          </a:xfrm>
          <a:prstGeom prst="rect">
            <a:avLst/>
          </a:prstGeom>
          <a:noFill/>
        </p:spPr>
        <p:txBody>
          <a:bodyPr wrap="square" rtlCol="0">
            <a:spAutoFit/>
          </a:bodyPr>
          <a:lstStyle/>
          <a:p>
            <a:pPr algn="ctr"/>
            <a:endParaRPr lang="en-US" sz="4000" b="1" dirty="0">
              <a:solidFill>
                <a:srgbClr val="FF0000"/>
              </a:solidFill>
              <a:latin typeface="Times New Roman" panose="02020603050405020304"/>
              <a:cs typeface="Times New Roman" panose="02020603050405020304"/>
            </a:endParaRPr>
          </a:p>
          <a:p>
            <a:pPr algn="ctr"/>
            <a:r>
              <a:rPr lang="en-US" sz="4000" b="1" dirty="0">
                <a:solidFill>
                  <a:srgbClr val="FF0000"/>
                </a:solidFill>
                <a:latin typeface="Times New Roman" panose="02020603050405020304"/>
                <a:cs typeface="Times New Roman" panose="02020603050405020304"/>
              </a:rPr>
              <a:t>CMR Technical Campus</a:t>
            </a:r>
            <a:br>
              <a:rPr lang="en-US" sz="4000" b="1" dirty="0">
                <a:latin typeface="Times New Roman" panose="02020603050405020304"/>
                <a:cs typeface="Times New Roman" panose="02020603050405020304"/>
              </a:rPr>
            </a:br>
            <a:r>
              <a:rPr lang="en-US" sz="4000" b="1" dirty="0">
                <a:latin typeface="Times New Roman" panose="02020603050405020304"/>
                <a:cs typeface="Times New Roman" panose="02020603050405020304"/>
              </a:rPr>
              <a:t>   </a:t>
            </a:r>
            <a:r>
              <a:rPr lang="en-US" sz="4000" b="1" dirty="0">
                <a:solidFill>
                  <a:srgbClr val="00B0F0"/>
                </a:solidFill>
                <a:latin typeface="Times New Roman" panose="02020603050405020304"/>
                <a:cs typeface="Times New Roman" panose="02020603050405020304"/>
              </a:rPr>
              <a:t>Department of Information Technology</a:t>
            </a:r>
          </a:p>
          <a:p>
            <a:pPr algn="ctr"/>
            <a:endParaRPr lang="en-US" sz="4000" b="1" dirty="0">
              <a:solidFill>
                <a:srgbClr val="00B0F0"/>
              </a:solidFill>
              <a:latin typeface="Times New Roman" panose="02020603050405020304"/>
              <a:cs typeface="Times New Roman" panose="02020603050405020304"/>
            </a:endParaRPr>
          </a:p>
          <a:p>
            <a:pPr algn="ctr"/>
            <a:r>
              <a:rPr lang="en-US" sz="3200" b="1" dirty="0">
                <a:solidFill>
                  <a:srgbClr val="C00000"/>
                </a:solidFill>
                <a:latin typeface="Times New Roman" panose="02020603050405020304"/>
                <a:cs typeface="Times New Roman" panose="02020603050405020304"/>
              </a:rPr>
              <a:t>Major Project Stage-II</a:t>
            </a:r>
          </a:p>
          <a:p>
            <a:pPr algn="ctr"/>
            <a:r>
              <a:rPr lang="en-US" sz="3200" b="1" dirty="0">
                <a:solidFill>
                  <a:srgbClr val="C00000"/>
                </a:solidFill>
                <a:latin typeface="Times New Roman" panose="02020603050405020304"/>
                <a:cs typeface="Times New Roman" panose="02020603050405020304"/>
              </a:rPr>
              <a:t>Review-I</a:t>
            </a:r>
          </a:p>
          <a:p>
            <a:pPr algn="ctr"/>
            <a:endParaRPr lang="en-US" sz="4000" b="1" dirty="0">
              <a:solidFill>
                <a:srgbClr val="00B0F0"/>
              </a:solidFill>
              <a:latin typeface="Times New Roman" panose="02020603050405020304"/>
              <a:cs typeface="Times New Roman" panose="02020603050405020304"/>
            </a:endParaRPr>
          </a:p>
          <a:p>
            <a:r>
              <a:rPr lang="en-US" sz="2800" b="1" dirty="0">
                <a:latin typeface="Times New Roman" panose="02020603050405020304"/>
              </a:rPr>
              <a:t>Project Title</a:t>
            </a:r>
            <a:r>
              <a:rPr lang="en-US" sz="2800" b="1" dirty="0">
                <a:latin typeface="Times New Roman" panose="02020603050405020304" pitchFamily="18" charset="0"/>
                <a:cs typeface="Times New Roman" panose="02020603050405020304" pitchFamily="18" charset="0"/>
              </a:rPr>
              <a:t>: Automated Animal Species Identification via Deep Learning on Bio-acoustic Recordings</a:t>
            </a:r>
          </a:p>
          <a:p>
            <a:endParaRPr lang="en-US" sz="2800" b="1" dirty="0">
              <a:solidFill>
                <a:srgbClr val="00B0F0"/>
              </a:solidFill>
              <a:latin typeface="Times New Roman" panose="02020603050405020304" pitchFamily="18" charset="0"/>
              <a:cs typeface="Times New Roman" panose="02020603050405020304" pitchFamily="18" charset="0"/>
            </a:endParaRPr>
          </a:p>
          <a:p>
            <a:endParaRPr lang="en-US" sz="2800" b="1" dirty="0">
              <a:solidFill>
                <a:srgbClr val="00B0F0"/>
              </a:solidFill>
              <a:latin typeface="Times New Roman" panose="02020603050405020304"/>
              <a:cs typeface="Times New Roman" panose="02020603050405020304"/>
            </a:endParaRPr>
          </a:p>
          <a:p>
            <a:pPr algn="ctr"/>
            <a:endParaRPr lang="en-US" sz="2800" b="1" dirty="0">
              <a:solidFill>
                <a:srgbClr val="00B0F0"/>
              </a:solidFill>
              <a:latin typeface="Times New Roman" panose="02020603050405020304"/>
              <a:cs typeface="Times New Roman" panose="02020603050405020304"/>
            </a:endParaRPr>
          </a:p>
          <a:p>
            <a:pPr algn="ctr"/>
            <a:endParaRPr lang="en-US" sz="4000" b="1" dirty="0">
              <a:solidFill>
                <a:srgbClr val="00B0F0"/>
              </a:solidFill>
              <a:latin typeface="Times New Roman" panose="02020603050405020304"/>
              <a:cs typeface="Times New Roman" panose="02020603050405020304"/>
            </a:endParaRPr>
          </a:p>
          <a:p>
            <a:pPr algn="ctr"/>
            <a:endParaRPr lang="en-US" b="1" dirty="0">
              <a:solidFill>
                <a:srgbClr val="00B0F0"/>
              </a:solidFill>
              <a:latin typeface="Times New Roman" panose="02020603050405020304"/>
              <a:cs typeface="Times New Roman" panose="02020603050405020304"/>
            </a:endParaRPr>
          </a:p>
          <a:p>
            <a:pPr algn="ctr"/>
            <a:endParaRPr lang="en-US" b="1" dirty="0">
              <a:solidFill>
                <a:srgbClr val="00B0F0"/>
              </a:solidFill>
              <a:latin typeface="Times New Roman" panose="02020603050405020304"/>
              <a:cs typeface="Times New Roman" panose="02020603050405020304"/>
            </a:endParaRPr>
          </a:p>
          <a:p>
            <a:pPr algn="ctr"/>
            <a:endParaRPr lang="en-US" b="1" dirty="0">
              <a:solidFill>
                <a:srgbClr val="00B0F0"/>
              </a:solidFill>
              <a:latin typeface="Times New Roman" panose="02020603050405020304"/>
              <a:cs typeface="Times New Roman" panose="02020603050405020304"/>
            </a:endParaRPr>
          </a:p>
          <a:p>
            <a:pPr algn="ctr"/>
            <a:endParaRPr lang="en-US" b="1" dirty="0">
              <a:solidFill>
                <a:srgbClr val="00B0F0"/>
              </a:solidFill>
              <a:latin typeface="Times New Roman" panose="02020603050405020304"/>
              <a:cs typeface="Times New Roman" panose="02020603050405020304"/>
            </a:endParaRPr>
          </a:p>
          <a:p>
            <a:pPr algn="ctr"/>
            <a:endParaRPr lang="en-US" b="1" dirty="0">
              <a:solidFill>
                <a:srgbClr val="00B0F0"/>
              </a:solidFill>
              <a:latin typeface="Times New Roman" panose="02020603050405020304"/>
              <a:cs typeface="Times New Roman" panose="02020603050405020304"/>
            </a:endParaRPr>
          </a:p>
          <a:p>
            <a:pPr algn="ctr"/>
            <a:endParaRPr lang="en-US" b="1" dirty="0">
              <a:solidFill>
                <a:srgbClr val="00B0F0"/>
              </a:solidFill>
              <a:latin typeface="Times New Roman" panose="02020603050405020304"/>
              <a:cs typeface="Times New Roman" panose="02020603050405020304"/>
            </a:endParaRPr>
          </a:p>
          <a:p>
            <a:pPr algn="ctr"/>
            <a:endParaRPr lang="en-US" b="1" dirty="0">
              <a:solidFill>
                <a:srgbClr val="00B0F0"/>
              </a:solidFill>
              <a:latin typeface="Times New Roman" panose="02020603050405020304"/>
              <a:cs typeface="Times New Roman" panose="02020603050405020304"/>
            </a:endParaRPr>
          </a:p>
          <a:p>
            <a:pPr algn="ctr"/>
            <a:endParaRPr lang="en-IN" dirty="0"/>
          </a:p>
        </p:txBody>
      </p:sp>
      <p:pic>
        <p:nvPicPr>
          <p:cNvPr id="3" name="Picture 2" descr="A logo with a flower&#10;&#10;Description automatically generated">
            <a:extLst>
              <a:ext uri="{FF2B5EF4-FFF2-40B4-BE49-F238E27FC236}">
                <a16:creationId xmlns:a16="http://schemas.microsoft.com/office/drawing/2014/main" id="{2427E55B-C6F0-990B-23C1-9761AAE837B7}"/>
              </a:ext>
            </a:extLst>
          </p:cNvPr>
          <p:cNvPicPr>
            <a:picLocks noChangeAspect="1"/>
          </p:cNvPicPr>
          <p:nvPr/>
        </p:nvPicPr>
        <p:blipFill>
          <a:blip r:embed="rId2"/>
          <a:stretch>
            <a:fillRect/>
          </a:stretch>
        </p:blipFill>
        <p:spPr>
          <a:xfrm>
            <a:off x="1012371" y="841430"/>
            <a:ext cx="3102429" cy="2554913"/>
          </a:xfrm>
          <a:prstGeom prst="rect">
            <a:avLst/>
          </a:prstGeom>
        </p:spPr>
      </p:pic>
      <p:sp>
        <p:nvSpPr>
          <p:cNvPr id="4" name="TextBox 10">
            <a:extLst>
              <a:ext uri="{FF2B5EF4-FFF2-40B4-BE49-F238E27FC236}">
                <a16:creationId xmlns:a16="http://schemas.microsoft.com/office/drawing/2014/main" id="{3FD1966F-E0A7-9BFD-DEFA-5CEA1D2934FE}"/>
              </a:ext>
            </a:extLst>
          </p:cNvPr>
          <p:cNvSpPr txBox="1"/>
          <p:nvPr/>
        </p:nvSpPr>
        <p:spPr>
          <a:xfrm>
            <a:off x="1240972" y="5290458"/>
            <a:ext cx="4555671" cy="1200329"/>
          </a:xfrm>
          <a:prstGeom prst="rect">
            <a:avLst/>
          </a:prstGeom>
          <a:noFill/>
        </p:spPr>
        <p:txBody>
          <a:bodyPr rot="0" spcFirstLastPara="0" vert="horz" wrap="square" lIns="91440" tIns="45720" rIns="91440" bIns="45720" numCol="1" spcCol="0" rtlCol="0" fromWordArt="0" anchor="t" anchorCtr="0" forceAA="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solidFill>
                  <a:srgbClr val="00B0F0"/>
                </a:solidFill>
                <a:latin typeface="Times New Roman" panose="02020603050405020304"/>
                <a:cs typeface="Segoe UI" panose="020B0502040204020203"/>
              </a:rPr>
              <a:t>Project Supervisor:</a:t>
            </a:r>
            <a:r>
              <a:rPr lang="en-US" sz="2400" dirty="0">
                <a:latin typeface="Times New Roman" panose="02020603050405020304"/>
                <a:cs typeface="Segoe UI" panose="020B0502040204020203"/>
              </a:rPr>
              <a:t>​</a:t>
            </a:r>
          </a:p>
          <a:p>
            <a:r>
              <a:rPr lang="en-US" sz="2400" b="1" dirty="0">
                <a:solidFill>
                  <a:srgbClr val="002060"/>
                </a:solidFill>
                <a:latin typeface="Times New Roman" panose="02020603050405020304"/>
                <a:cs typeface="Segoe UI" panose="020B0502040204020203"/>
              </a:rPr>
              <a:t>Name</a:t>
            </a:r>
            <a:r>
              <a:rPr lang="en-US" sz="2400" dirty="0">
                <a:solidFill>
                  <a:srgbClr val="002060"/>
                </a:solidFill>
                <a:latin typeface="Times New Roman" panose="02020603050405020304"/>
                <a:cs typeface="Segoe UI" panose="020B0502040204020203"/>
              </a:rPr>
              <a:t>:</a:t>
            </a:r>
            <a:r>
              <a:rPr lang="en-US" sz="2400" dirty="0">
                <a:latin typeface="Times New Roman" panose="02020603050405020304"/>
                <a:cs typeface="Segoe UI" panose="020B0502040204020203"/>
              </a:rPr>
              <a:t>​</a:t>
            </a:r>
            <a:r>
              <a:rPr lang="en-US" sz="2400" b="1" dirty="0" err="1">
                <a:latin typeface="Times New Roman" panose="02020603050405020304"/>
                <a:cs typeface="Segoe UI" panose="020B0502040204020203"/>
              </a:rPr>
              <a:t>G.Shankar</a:t>
            </a:r>
            <a:endParaRPr lang="en-US" sz="2400" b="1" dirty="0">
              <a:latin typeface="Times New Roman" panose="02020603050405020304"/>
              <a:cs typeface="Segoe UI" panose="020B0502040204020203"/>
            </a:endParaRPr>
          </a:p>
          <a:p>
            <a:r>
              <a:rPr lang="en-US" sz="2400" b="1" dirty="0">
                <a:solidFill>
                  <a:srgbClr val="002060"/>
                </a:solidFill>
                <a:latin typeface="Times New Roman" panose="02020603050405020304"/>
                <a:cs typeface="Segoe UI" panose="020B0502040204020203"/>
              </a:rPr>
              <a:t>Designation</a:t>
            </a:r>
            <a:r>
              <a:rPr lang="en-US" sz="2400" dirty="0">
                <a:solidFill>
                  <a:srgbClr val="002060"/>
                </a:solidFill>
                <a:latin typeface="Times New Roman" panose="02020603050405020304"/>
                <a:cs typeface="Segoe UI" panose="020B0502040204020203"/>
              </a:rPr>
              <a:t>: Assistant Professor</a:t>
            </a:r>
            <a:endParaRPr lang="en-IN" sz="2400" dirty="0">
              <a:latin typeface="Times New Roman" panose="02020603050405020304"/>
              <a:cs typeface="Segoe UI" panose="020B0502040204020203"/>
            </a:endParaRPr>
          </a:p>
        </p:txBody>
      </p:sp>
      <p:sp>
        <p:nvSpPr>
          <p:cNvPr id="5" name="TextBox 1">
            <a:extLst>
              <a:ext uri="{FF2B5EF4-FFF2-40B4-BE49-F238E27FC236}">
                <a16:creationId xmlns:a16="http://schemas.microsoft.com/office/drawing/2014/main" id="{76FB3848-EF97-1048-1710-716C72D8EA38}"/>
              </a:ext>
            </a:extLst>
          </p:cNvPr>
          <p:cNvSpPr txBox="1"/>
          <p:nvPr/>
        </p:nvSpPr>
        <p:spPr>
          <a:xfrm>
            <a:off x="8082643" y="5290458"/>
            <a:ext cx="7560129" cy="2710542"/>
          </a:xfrm>
          <a:prstGeom prst="rect">
            <a:avLst/>
          </a:prstGeom>
          <a:noFill/>
        </p:spPr>
        <p:txBody>
          <a:bodyPr rot="0" spcFirstLastPara="0" vert="horz" wrap="square" lIns="91440" tIns="45720" rIns="91440" bIns="45720" numCol="1" spcCol="0" rtlCol="0" fromWordArt="0" anchor="t" anchorCtr="0" forceAA="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rgbClr val="00B0F0"/>
                </a:solidFill>
                <a:latin typeface="Times New Roman" panose="02020603050405020304"/>
                <a:cs typeface="Segoe UI" panose="020B0502040204020203"/>
              </a:rPr>
              <a:t>Presented By:</a:t>
            </a:r>
            <a:r>
              <a:rPr lang="en-US" sz="2400" dirty="0">
                <a:latin typeface="Times New Roman" panose="02020603050405020304"/>
                <a:cs typeface="Segoe UI" panose="020B0502040204020203"/>
              </a:rPr>
              <a:t>​</a:t>
            </a:r>
          </a:p>
          <a:p>
            <a:r>
              <a:rPr lang="en-US" sz="2400" dirty="0">
                <a:latin typeface="Times New Roman" panose="02020603050405020304"/>
                <a:cs typeface="Segoe UI" panose="020B0502040204020203"/>
              </a:rPr>
              <a:t>Batch No: 1</a:t>
            </a:r>
          </a:p>
          <a:p>
            <a:pPr marL="342900" indent="-342900"/>
            <a:r>
              <a:rPr lang="en-US" sz="2400" dirty="0">
                <a:latin typeface="Times New Roman" panose="02020603050405020304"/>
                <a:cs typeface="Arial" panose="020B0604020202020204"/>
              </a:rPr>
              <a:t>1.H. No: 227R1A1213                     </a:t>
            </a:r>
            <a:r>
              <a:rPr lang="en-US" sz="2400" dirty="0" err="1">
                <a:latin typeface="Times New Roman" panose="02020603050405020304"/>
                <a:cs typeface="Arial" panose="020B0604020202020204"/>
              </a:rPr>
              <a:t>Name:D.HIMAVANI</a:t>
            </a:r>
            <a:endParaRPr lang="en-US" sz="2400" dirty="0">
              <a:latin typeface="Times New Roman" panose="02020603050405020304"/>
              <a:cs typeface="Arial" panose="020B0604020202020204"/>
            </a:endParaRPr>
          </a:p>
          <a:p>
            <a:pPr marL="342900" indent="-342900"/>
            <a:r>
              <a:rPr lang="en-US" sz="2400" dirty="0">
                <a:latin typeface="Times New Roman" panose="02020603050405020304"/>
                <a:cs typeface="Arial" panose="020B0604020202020204"/>
              </a:rPr>
              <a:t>2.H. No: 227R1A1203                     </a:t>
            </a:r>
            <a:r>
              <a:rPr lang="en-US" sz="2400" dirty="0" err="1">
                <a:latin typeface="Times New Roman" panose="02020603050405020304"/>
                <a:cs typeface="Arial" panose="020B0604020202020204"/>
              </a:rPr>
              <a:t>Name:A.ANIKETH</a:t>
            </a:r>
            <a:r>
              <a:rPr lang="en-US" sz="2400" dirty="0"/>
              <a:t> </a:t>
            </a:r>
            <a:endParaRPr lang="en-US" sz="2400" dirty="0">
              <a:latin typeface="Times New Roman" panose="02020603050405020304"/>
              <a:cs typeface="Arial" panose="020B0604020202020204"/>
            </a:endParaRPr>
          </a:p>
          <a:p>
            <a:pPr marL="342900" indent="-342900"/>
            <a:r>
              <a:rPr lang="en-US" sz="2400" dirty="0">
                <a:latin typeface="Times New Roman" panose="02020603050405020304"/>
                <a:cs typeface="Arial" panose="020B0604020202020204"/>
              </a:rPr>
              <a:t>3.H. No: </a:t>
            </a:r>
            <a:r>
              <a:rPr lang="en-US" sz="2400" dirty="0">
                <a:latin typeface="Times New Roman" panose="02020603050405020304" pitchFamily="18" charset="0"/>
                <a:cs typeface="Times New Roman" panose="02020603050405020304" pitchFamily="18" charset="0"/>
              </a:rPr>
              <a:t>227R1A1235</a:t>
            </a:r>
            <a:r>
              <a:rPr lang="en-US" sz="2400" dirty="0">
                <a:latin typeface="Times New Roman" panose="02020603050405020304"/>
                <a:cs typeface="Arial" panose="020B0604020202020204"/>
              </a:rPr>
              <a:t>                     </a:t>
            </a:r>
            <a:r>
              <a:rPr lang="en-US" sz="2400" dirty="0" err="1">
                <a:latin typeface="Times New Roman" panose="02020603050405020304"/>
                <a:cs typeface="Arial" panose="020B0604020202020204"/>
              </a:rPr>
              <a:t>Name:M.VISHWANI</a:t>
            </a:r>
            <a:endParaRPr lang="en-US" sz="2400" dirty="0">
              <a:latin typeface="Times New Roman" panose="02020603050405020304"/>
              <a:cs typeface="Arial" panose="020B0604020202020204"/>
            </a:endParaRPr>
          </a:p>
          <a:p>
            <a:pPr marL="342900" indent="-342900"/>
            <a:r>
              <a:rPr lang="en-US" sz="2400" dirty="0">
                <a:latin typeface="Times New Roman" panose="02020603050405020304"/>
                <a:cs typeface="Arial" panose="020B0604020202020204"/>
              </a:rPr>
              <a:t>4 H. No:217R1A12B4                     </a:t>
            </a:r>
            <a:r>
              <a:rPr lang="en-US" sz="2400" dirty="0" err="1">
                <a:latin typeface="Times New Roman" panose="02020603050405020304"/>
                <a:cs typeface="Arial" panose="020B0604020202020204"/>
              </a:rPr>
              <a:t>Name:P.SOMNATH</a:t>
            </a:r>
            <a:endParaRPr lang="en-US" sz="2400" dirty="0">
              <a:latin typeface="Times New Roman" panose="02020603050405020304"/>
              <a:cs typeface="Arial" panose="020B0604020202020204"/>
            </a:endParaRPr>
          </a:p>
          <a:p>
            <a:r>
              <a:rPr lang="en-US" sz="2400" dirty="0">
                <a:latin typeface="Times New Roman" panose="02020603050405020304"/>
                <a:cs typeface="Segoe UI" panose="020B0502040204020203"/>
              </a:rPr>
              <a:t>​</a:t>
            </a:r>
          </a:p>
        </p:txBody>
      </p:sp>
    </p:spTree>
    <p:extLst>
      <p:ext uri="{BB962C8B-B14F-4D97-AF65-F5344CB8AC3E}">
        <p14:creationId xmlns:p14="http://schemas.microsoft.com/office/powerpoint/2010/main" val="2801174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799F52-4C9F-22FA-F404-CD00B5D353B1}"/>
              </a:ext>
            </a:extLst>
          </p:cNvPr>
          <p:cNvSpPr>
            <a:spLocks noGrp="1"/>
          </p:cNvSpPr>
          <p:nvPr>
            <p:ph idx="1"/>
          </p:nvPr>
        </p:nvSpPr>
        <p:spPr>
          <a:xfrm>
            <a:off x="1184377" y="2556329"/>
            <a:ext cx="15875000" cy="6153945"/>
          </a:xfrm>
        </p:spPr>
        <p:txBody>
          <a:bodyPr>
            <a:normAutofit/>
          </a:bodyPr>
          <a:lstStyle/>
          <a:p>
            <a:pPr>
              <a:buFont typeface="Wingdings" panose="05000000000000000000" pitchFamily="2" charset="2"/>
              <a:buChar char="§"/>
            </a:pPr>
            <a:r>
              <a:rPr lang="en-IN" sz="2000" b="1" dirty="0">
                <a:solidFill>
                  <a:schemeClr val="tx1"/>
                </a:solidFill>
                <a:latin typeface="Times New Roman" panose="02020603050405020304" pitchFamily="18" charset="0"/>
                <a:cs typeface="Times New Roman" panose="02020603050405020304" pitchFamily="18" charset="0"/>
              </a:rPr>
              <a:t>INTRODUCTION &amp; OVERVIEW </a:t>
            </a:r>
          </a:p>
          <a:p>
            <a:pPr>
              <a:buFont typeface="Wingdings" panose="05000000000000000000" pitchFamily="2" charset="2"/>
              <a:buChar char="§"/>
            </a:pPr>
            <a:r>
              <a:rPr lang="en-IN" sz="2000" b="1" dirty="0">
                <a:solidFill>
                  <a:schemeClr val="tx1"/>
                </a:solidFill>
                <a:latin typeface="Times New Roman" panose="02020603050405020304" pitchFamily="18" charset="0"/>
                <a:cs typeface="Times New Roman" panose="02020603050405020304" pitchFamily="18" charset="0"/>
              </a:rPr>
              <a:t>EXISTING SYSTEM</a:t>
            </a:r>
          </a:p>
          <a:p>
            <a:pPr>
              <a:buFont typeface="Wingdings" panose="05000000000000000000" pitchFamily="2" charset="2"/>
              <a:buChar char="§"/>
            </a:pPr>
            <a:r>
              <a:rPr lang="en-IN" sz="2000" b="1" dirty="0">
                <a:solidFill>
                  <a:schemeClr val="tx1"/>
                </a:solidFill>
                <a:latin typeface="Times New Roman" panose="02020603050405020304" pitchFamily="18" charset="0"/>
                <a:cs typeface="Times New Roman" panose="02020603050405020304" pitchFamily="18" charset="0"/>
              </a:rPr>
              <a:t> DISADVANTAGES</a:t>
            </a:r>
          </a:p>
          <a:p>
            <a:pPr>
              <a:buFont typeface="Wingdings" panose="05000000000000000000" pitchFamily="2" charset="2"/>
              <a:buChar char="§"/>
            </a:pPr>
            <a:r>
              <a:rPr lang="en-IN" sz="2000" b="1" dirty="0">
                <a:solidFill>
                  <a:schemeClr val="tx1"/>
                </a:solidFill>
                <a:latin typeface="Times New Roman" panose="02020603050405020304" pitchFamily="18" charset="0"/>
                <a:cs typeface="Times New Roman" panose="02020603050405020304" pitchFamily="18" charset="0"/>
              </a:rPr>
              <a:t>PROPOSED SYSTEM </a:t>
            </a:r>
          </a:p>
          <a:p>
            <a:pPr>
              <a:buFont typeface="Wingdings" panose="05000000000000000000" pitchFamily="2" charset="2"/>
              <a:buChar char="§"/>
            </a:pPr>
            <a:r>
              <a:rPr lang="en-IN" sz="2000" b="1" dirty="0">
                <a:solidFill>
                  <a:schemeClr val="tx1"/>
                </a:solidFill>
                <a:latin typeface="Times New Roman" panose="02020603050405020304" pitchFamily="18" charset="0"/>
                <a:cs typeface="Times New Roman" panose="02020603050405020304" pitchFamily="18" charset="0"/>
              </a:rPr>
              <a:t>ADVANTAGES</a:t>
            </a:r>
          </a:p>
          <a:p>
            <a:pPr>
              <a:buFont typeface="Wingdings" panose="05000000000000000000" pitchFamily="2" charset="2"/>
              <a:buChar char="§"/>
            </a:pPr>
            <a:r>
              <a:rPr lang="en-IN" sz="2000" b="1" dirty="0">
                <a:solidFill>
                  <a:schemeClr val="tx1"/>
                </a:solidFill>
                <a:latin typeface="Times New Roman" panose="02020603050405020304" pitchFamily="18" charset="0"/>
                <a:cs typeface="Times New Roman" panose="02020603050405020304" pitchFamily="18" charset="0"/>
              </a:rPr>
              <a:t>SOFTWARE&amp;HARDWARE REQUIREMENTS</a:t>
            </a:r>
          </a:p>
          <a:p>
            <a:pPr>
              <a:buFont typeface="Wingdings" panose="05000000000000000000" pitchFamily="2" charset="2"/>
              <a:buChar char="§"/>
            </a:pPr>
            <a:r>
              <a:rPr lang="en-IN" sz="2000" b="1" dirty="0">
                <a:solidFill>
                  <a:schemeClr val="tx1"/>
                </a:solidFill>
                <a:latin typeface="Times New Roman" panose="02020603050405020304" pitchFamily="18" charset="0"/>
                <a:cs typeface="Times New Roman" panose="02020603050405020304" pitchFamily="18" charset="0"/>
              </a:rPr>
              <a:t>NOVELTY OF  THE PROJECT</a:t>
            </a:r>
          </a:p>
          <a:p>
            <a:pPr>
              <a:buFont typeface="Wingdings" panose="05000000000000000000" pitchFamily="2" charset="2"/>
              <a:buChar char="§"/>
            </a:pPr>
            <a:r>
              <a:rPr lang="en-IN" sz="2000" b="1" dirty="0">
                <a:solidFill>
                  <a:schemeClr val="tx1"/>
                </a:solidFill>
                <a:latin typeface="Times New Roman" panose="02020603050405020304" pitchFamily="18" charset="0"/>
                <a:cs typeface="Times New Roman" panose="02020603050405020304" pitchFamily="18" charset="0"/>
              </a:rPr>
              <a:t>ARCHITECTURE</a:t>
            </a:r>
          </a:p>
          <a:p>
            <a:pPr>
              <a:buFont typeface="Wingdings" panose="05000000000000000000" pitchFamily="2" charset="2"/>
              <a:buChar char="§"/>
            </a:pPr>
            <a:r>
              <a:rPr lang="en-IN" sz="2000" b="1" dirty="0">
                <a:solidFill>
                  <a:schemeClr val="tx1"/>
                </a:solidFill>
                <a:latin typeface="Times New Roman" panose="02020603050405020304" pitchFamily="18" charset="0"/>
                <a:cs typeface="Times New Roman" panose="02020603050405020304" pitchFamily="18" charset="0"/>
              </a:rPr>
              <a:t>MODULES</a:t>
            </a:r>
          </a:p>
          <a:p>
            <a:pPr>
              <a:buFont typeface="Wingdings" panose="05000000000000000000" pitchFamily="2" charset="2"/>
              <a:buChar char="§"/>
            </a:pPr>
            <a:r>
              <a:rPr lang="en-IN" sz="2000" b="1" dirty="0">
                <a:solidFill>
                  <a:schemeClr val="tx1"/>
                </a:solidFill>
                <a:latin typeface="Times New Roman" panose="02020603050405020304" pitchFamily="18" charset="0"/>
                <a:cs typeface="Times New Roman" panose="02020603050405020304" pitchFamily="18" charset="0"/>
              </a:rPr>
              <a:t>UML DIAGRAMS</a:t>
            </a:r>
          </a:p>
          <a:p>
            <a:pPr marL="0" indent="0">
              <a:buNone/>
            </a:pPr>
            <a:endParaRPr lang="en-IN" sz="2800" dirty="0"/>
          </a:p>
          <a:p>
            <a:pPr>
              <a:buFont typeface="Arial" panose="020B0604020202020204" pitchFamily="34" charset="0"/>
              <a:buChar char="•"/>
            </a:pPr>
            <a:endParaRPr lang="en-IN" sz="2800" dirty="0"/>
          </a:p>
        </p:txBody>
      </p:sp>
      <p:sp>
        <p:nvSpPr>
          <p:cNvPr id="6" name="TextBox 7">
            <a:extLst>
              <a:ext uri="{FF2B5EF4-FFF2-40B4-BE49-F238E27FC236}">
                <a16:creationId xmlns:a16="http://schemas.microsoft.com/office/drawing/2014/main" id="{BBB3821A-231B-E61F-42B4-847908EDEF94}"/>
              </a:ext>
            </a:extLst>
          </p:cNvPr>
          <p:cNvSpPr txBox="1"/>
          <p:nvPr/>
        </p:nvSpPr>
        <p:spPr>
          <a:xfrm>
            <a:off x="7200900" y="834878"/>
            <a:ext cx="4114800" cy="1173536"/>
          </a:xfrm>
          <a:prstGeom prst="rect">
            <a:avLst/>
          </a:prstGeom>
        </p:spPr>
        <p:txBody>
          <a:bodyPr lIns="50800" tIns="50800" rIns="50800" bIns="50800" rtlCol="0" anchor="ctr"/>
          <a:lstStyle/>
          <a:p>
            <a:pPr algn="ctr">
              <a:lnSpc>
                <a:spcPts val="2659"/>
              </a:lnSpc>
              <a:spcBef>
                <a:spcPct val="0"/>
              </a:spcBef>
            </a:pPr>
            <a:endParaRPr/>
          </a:p>
        </p:txBody>
      </p:sp>
      <p:sp>
        <p:nvSpPr>
          <p:cNvPr id="8" name="TextBox 7">
            <a:extLst>
              <a:ext uri="{FF2B5EF4-FFF2-40B4-BE49-F238E27FC236}">
                <a16:creationId xmlns:a16="http://schemas.microsoft.com/office/drawing/2014/main" id="{F18543D9-DD30-0214-0093-DC2D1BE50127}"/>
              </a:ext>
            </a:extLst>
          </p:cNvPr>
          <p:cNvSpPr txBox="1"/>
          <p:nvPr/>
        </p:nvSpPr>
        <p:spPr>
          <a:xfrm>
            <a:off x="4527755" y="687305"/>
            <a:ext cx="9188245" cy="1082989"/>
          </a:xfrm>
          <a:prstGeom prst="rect">
            <a:avLst/>
          </a:prstGeom>
          <a:noFill/>
        </p:spPr>
        <p:txBody>
          <a:bodyPr wrap="square">
            <a:spAutoFit/>
          </a:bodyPr>
          <a:lstStyle/>
          <a:p>
            <a:pPr algn="ctr">
              <a:lnSpc>
                <a:spcPts val="9250"/>
              </a:lnSpc>
            </a:pPr>
            <a:r>
              <a:rPr lang="en-US" sz="3200" b="1" dirty="0">
                <a:solidFill>
                  <a:srgbClr val="000000"/>
                </a:solidFill>
                <a:latin typeface="Times New Roman" panose="02020603050405020304" pitchFamily="18" charset="0"/>
                <a:cs typeface="Times New Roman" panose="02020603050405020304" pitchFamily="18" charset="0"/>
              </a:rPr>
              <a:t>CONTENTS</a:t>
            </a:r>
          </a:p>
        </p:txBody>
      </p:sp>
      <p:pic>
        <p:nvPicPr>
          <p:cNvPr id="2" name="Picture 1" descr="A logo with a flower&#10;&#10;Description automatically generated">
            <a:extLst>
              <a:ext uri="{FF2B5EF4-FFF2-40B4-BE49-F238E27FC236}">
                <a16:creationId xmlns:a16="http://schemas.microsoft.com/office/drawing/2014/main" id="{1E6C89E1-56D1-6FB2-6C3D-7C257BD48A84}"/>
              </a:ext>
            </a:extLst>
          </p:cNvPr>
          <p:cNvPicPr>
            <a:picLocks noChangeAspect="1"/>
          </p:cNvPicPr>
          <p:nvPr/>
        </p:nvPicPr>
        <p:blipFill>
          <a:blip r:embed="rId2"/>
          <a:stretch>
            <a:fillRect/>
          </a:stretch>
        </p:blipFill>
        <p:spPr>
          <a:xfrm>
            <a:off x="15384938" y="429652"/>
            <a:ext cx="2367643" cy="2294147"/>
          </a:xfrm>
          <a:prstGeom prst="rect">
            <a:avLst/>
          </a:prstGeom>
        </p:spPr>
      </p:pic>
    </p:spTree>
    <p:extLst>
      <p:ext uri="{BB962C8B-B14F-4D97-AF65-F5344CB8AC3E}">
        <p14:creationId xmlns:p14="http://schemas.microsoft.com/office/powerpoint/2010/main" val="325514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TextBox 7"/>
          <p:cNvSpPr txBox="1"/>
          <p:nvPr/>
        </p:nvSpPr>
        <p:spPr>
          <a:xfrm>
            <a:off x="6825344" y="806451"/>
            <a:ext cx="4996542" cy="1187449"/>
          </a:xfrm>
          <a:prstGeom prst="rect">
            <a:avLst/>
          </a:prstGeom>
        </p:spPr>
        <p:txBody>
          <a:bodyPr lIns="50800" tIns="50800" rIns="50800" bIns="50800" rtlCol="0" anchor="ctr"/>
          <a:lstStyle/>
          <a:p>
            <a:pPr algn="ctr">
              <a:lnSpc>
                <a:spcPts val="2659"/>
              </a:lnSpc>
              <a:spcBef>
                <a:spcPct val="0"/>
              </a:spcBef>
            </a:pPr>
            <a:endParaRPr/>
          </a:p>
        </p:txBody>
      </p:sp>
      <p:sp>
        <p:nvSpPr>
          <p:cNvPr id="1048625" name="TextBox 12"/>
          <p:cNvSpPr txBox="1"/>
          <p:nvPr/>
        </p:nvSpPr>
        <p:spPr>
          <a:xfrm>
            <a:off x="1485898" y="781050"/>
            <a:ext cx="15136587" cy="990656"/>
          </a:xfrm>
          <a:prstGeom prst="rect">
            <a:avLst/>
          </a:prstGeom>
        </p:spPr>
        <p:txBody>
          <a:bodyPr wrap="square" lIns="0" tIns="0" rIns="0" bIns="0" rtlCol="0" anchor="t">
            <a:spAutoFit/>
          </a:bodyPr>
          <a:lstStyle/>
          <a:p>
            <a:pPr algn="ctr">
              <a:lnSpc>
                <a:spcPts val="9250"/>
              </a:lnSpc>
            </a:pPr>
            <a:r>
              <a:rPr lang="en-US" sz="3200" b="1" dirty="0">
                <a:solidFill>
                  <a:srgbClr val="000000"/>
                </a:solidFill>
                <a:latin typeface="Times New Roman" panose="02020603050405020304" pitchFamily="18" charset="0"/>
                <a:cs typeface="Times New Roman" panose="02020603050405020304" pitchFamily="18" charset="0"/>
              </a:rPr>
              <a:t>INTRODUCTION &amp;OVERVIEW</a:t>
            </a:r>
          </a:p>
        </p:txBody>
      </p:sp>
      <p:sp>
        <p:nvSpPr>
          <p:cNvPr id="2" name="Rectangle 1">
            <a:extLst>
              <a:ext uri="{FF2B5EF4-FFF2-40B4-BE49-F238E27FC236}">
                <a16:creationId xmlns:a16="http://schemas.microsoft.com/office/drawing/2014/main" id="{1EA8B9B1-36D9-2987-1BD0-15582D555D6C}"/>
              </a:ext>
            </a:extLst>
          </p:cNvPr>
          <p:cNvSpPr>
            <a:spLocks noChangeArrowheads="1"/>
          </p:cNvSpPr>
          <p:nvPr/>
        </p:nvSpPr>
        <p:spPr bwMode="auto">
          <a:xfrm rot="10800000" flipV="1">
            <a:off x="1767839" y="2566522"/>
            <a:ext cx="14462759"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defTabSz="914400" eaLnBrk="0" fontAlgn="base" hangingPunct="0">
              <a:lnSpc>
                <a:spcPct val="150000"/>
              </a:lnSpc>
              <a:spcBef>
                <a:spcPct val="0"/>
              </a:spcBef>
              <a:spcAft>
                <a:spcPct val="0"/>
              </a:spcAft>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Bioacoustics is the scientific study of animal vocalizations and natural soundscapes, providing valuable insights  into  animal behavior, communication, and ecosystem health. It has become an essential tool for biodiversity monitoring and wildlife conservation.</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Animal sounds carry species-specific information related to their behavior and characteristics.</a:t>
            </a:r>
          </a:p>
          <a:p>
            <a:pPr marL="342900" indent="-342900"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Bioacoustics applications include classifying animal sounds to identify species and behavioral contexts.</a:t>
            </a:r>
          </a:p>
          <a:p>
            <a:pPr marL="342900" indent="-342900"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Bioacoustics integrates animal vocalizations with behavioral and emotional responses of receivers.</a:t>
            </a:r>
          </a:p>
          <a:p>
            <a:pPr marL="342900" indent="-342900"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Bioacoustics studies the biological mechanisms involved in sound production </a:t>
            </a:r>
          </a:p>
          <a:p>
            <a:pPr marL="342900" indent="-342900"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highlights differences between automated bio-acoustic classification and traditional acoustic classification methods.</a:t>
            </a:r>
          </a:p>
          <a:p>
            <a:pPr marL="342900" indent="-342900" defTabSz="914400" eaLnBrk="0" fontAlgn="base" hangingPunct="0">
              <a:lnSpc>
                <a:spcPct val="150000"/>
              </a:lnSpc>
              <a:spcBef>
                <a:spcPct val="0"/>
              </a:spcBef>
              <a:spcAft>
                <a:spcPct val="0"/>
              </a:spcAft>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TextBox 7"/>
          <p:cNvSpPr txBox="1"/>
          <p:nvPr/>
        </p:nvSpPr>
        <p:spPr>
          <a:xfrm>
            <a:off x="6172200" y="599075"/>
            <a:ext cx="5698672" cy="1029985"/>
          </a:xfrm>
          <a:prstGeom prst="rect">
            <a:avLst/>
          </a:prstGeom>
        </p:spPr>
        <p:txBody>
          <a:bodyPr lIns="50800" tIns="50800" rIns="50800" bIns="50800" rtlCol="0" anchor="ctr"/>
          <a:lstStyle/>
          <a:p>
            <a:pPr algn="ctr">
              <a:lnSpc>
                <a:spcPts val="2659"/>
              </a:lnSpc>
              <a:spcBef>
                <a:spcPct val="0"/>
              </a:spcBef>
            </a:pPr>
            <a:endParaRPr/>
          </a:p>
        </p:txBody>
      </p:sp>
      <p:sp>
        <p:nvSpPr>
          <p:cNvPr id="1048640" name="TextBox 13"/>
          <p:cNvSpPr txBox="1"/>
          <p:nvPr/>
        </p:nvSpPr>
        <p:spPr>
          <a:xfrm>
            <a:off x="3765147" y="524922"/>
            <a:ext cx="10757706" cy="932948"/>
          </a:xfrm>
          <a:prstGeom prst="rect">
            <a:avLst/>
          </a:prstGeom>
        </p:spPr>
        <p:txBody>
          <a:bodyPr lIns="0" tIns="0" rIns="0" bIns="0" rtlCol="0" anchor="t">
            <a:spAutoFit/>
          </a:bodyPr>
          <a:lstStyle/>
          <a:p>
            <a:pPr algn="ctr">
              <a:lnSpc>
                <a:spcPts val="8694"/>
              </a:lnSpc>
            </a:pPr>
            <a:r>
              <a:rPr lang="en-US" sz="3200" b="1" dirty="0">
                <a:solidFill>
                  <a:srgbClr val="000000"/>
                </a:solidFill>
                <a:latin typeface="Times New Roman" panose="02020603050405020304" pitchFamily="18" charset="0"/>
                <a:cs typeface="Times New Roman" panose="02020603050405020304" pitchFamily="18" charset="0"/>
              </a:rPr>
              <a:t>EXISTING SYSTEM</a:t>
            </a:r>
          </a:p>
        </p:txBody>
      </p:sp>
      <p:sp>
        <p:nvSpPr>
          <p:cNvPr id="2" name="Rectangle 1">
            <a:extLst>
              <a:ext uri="{FF2B5EF4-FFF2-40B4-BE49-F238E27FC236}">
                <a16:creationId xmlns:a16="http://schemas.microsoft.com/office/drawing/2014/main" id="{BEBC6DCA-6180-E05C-57C5-F654C30004F9}"/>
              </a:ext>
            </a:extLst>
          </p:cNvPr>
          <p:cNvSpPr>
            <a:spLocks noChangeArrowheads="1"/>
          </p:cNvSpPr>
          <p:nvPr/>
        </p:nvSpPr>
        <p:spPr bwMode="auto">
          <a:xfrm>
            <a:off x="1420587" y="2070532"/>
            <a:ext cx="10238014"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wildlife monitoring relied mainly on manual observation methods for animal species identification.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sightings were commonly used by field biologists and ecologists to monitor wildlife.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Trap cameras were employed to capture animal presence and behavior.</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Handheld microphones and passive recording tools were used to collect animal sounds.</a:t>
            </a:r>
          </a:p>
          <a:p>
            <a:pPr marL="342900" indent="-342900" defTabSz="914400" eaLnBrk="0" fontAlgn="base" hangingPunct="0">
              <a:lnSpc>
                <a:spcPct val="150000"/>
              </a:lnSpc>
              <a:spcBef>
                <a:spcPct val="0"/>
              </a:spcBef>
              <a:spcAft>
                <a:spcPct val="0"/>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Software tools such as Raven Pro and </a:t>
            </a:r>
            <a:r>
              <a:rPr lang="en-US" sz="2400" dirty="0" err="1">
                <a:latin typeface="Times New Roman" panose="02020603050405020304" pitchFamily="18" charset="0"/>
                <a:cs typeface="Times New Roman" panose="02020603050405020304" pitchFamily="18" charset="0"/>
              </a:rPr>
              <a:t>Praat</a:t>
            </a:r>
            <a:r>
              <a:rPr lang="en-US" sz="2400" dirty="0">
                <a:latin typeface="Times New Roman" panose="02020603050405020304" pitchFamily="18" charset="0"/>
                <a:cs typeface="Times New Roman" panose="02020603050405020304" pitchFamily="18" charset="0"/>
              </a:rPr>
              <a:t> were used for sound visualization and pattern matching.</a:t>
            </a:r>
          </a:p>
          <a:p>
            <a:pPr marL="342900" indent="-342900" defTabSz="914400" eaLnBrk="0" fontAlgn="base" hangingPunct="0">
              <a:lnSpc>
                <a:spcPct val="150000"/>
              </a:lnSpc>
              <a:spcBef>
                <a:spcPct val="0"/>
              </a:spcBef>
              <a:spcAft>
                <a:spcPct val="0"/>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Spectrogram inspection was used to study frequency and temporal characteristics of sounds.</a:t>
            </a:r>
            <a:endParaRPr lang="en-US" altLang="en-US" sz="24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descr="PlantUML diagram">
            <a:extLst>
              <a:ext uri="{FF2B5EF4-FFF2-40B4-BE49-F238E27FC236}">
                <a16:creationId xmlns:a16="http://schemas.microsoft.com/office/drawing/2014/main" id="{58DADFD0-9797-5EC7-2CF4-C9A9FE88457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308427" y="524922"/>
            <a:ext cx="4428852" cy="9139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TextBox 4"/>
          <p:cNvSpPr txBox="1"/>
          <p:nvPr/>
        </p:nvSpPr>
        <p:spPr>
          <a:xfrm>
            <a:off x="927100" y="2107254"/>
            <a:ext cx="15811500" cy="6299571"/>
          </a:xfrm>
          <a:prstGeom prst="rect">
            <a:avLst/>
          </a:prstGeom>
        </p:spPr>
        <p:txBody>
          <a:bodyPr lIns="50800" tIns="50800" rIns="50800" bIns="50800" rtlCol="0" anchor="ctr"/>
          <a:lstStyle/>
          <a:p>
            <a:pPr algn="ctr">
              <a:lnSpc>
                <a:spcPts val="2659"/>
              </a:lnSpc>
              <a:spcBef>
                <a:spcPct val="0"/>
              </a:spcBef>
            </a:pPr>
            <a:endParaRPr dirty="0">
              <a:latin typeface="Times New Roman" panose="02020603050405020304" pitchFamily="18" charset="0"/>
              <a:cs typeface="Times New Roman" panose="02020603050405020304" pitchFamily="18" charset="0"/>
            </a:endParaRPr>
          </a:p>
        </p:txBody>
      </p:sp>
      <p:sp>
        <p:nvSpPr>
          <p:cNvPr id="1048643" name="TextBox 7"/>
          <p:cNvSpPr txBox="1"/>
          <p:nvPr/>
        </p:nvSpPr>
        <p:spPr>
          <a:xfrm>
            <a:off x="5894614" y="692977"/>
            <a:ext cx="5404757" cy="1600011"/>
          </a:xfrm>
          <a:prstGeom prst="rect">
            <a:avLst/>
          </a:prstGeom>
        </p:spPr>
        <p:txBody>
          <a:bodyPr lIns="50800" tIns="50800" rIns="50800" bIns="50800" rtlCol="0" anchor="ctr"/>
          <a:lstStyle/>
          <a:p>
            <a:pPr algn="ctr">
              <a:lnSpc>
                <a:spcPts val="2659"/>
              </a:lnSpc>
              <a:spcBef>
                <a:spcPct val="0"/>
              </a:spcBef>
            </a:pPr>
            <a:endParaRPr/>
          </a:p>
        </p:txBody>
      </p:sp>
      <p:sp>
        <p:nvSpPr>
          <p:cNvPr id="1048645" name="TextBox 13"/>
          <p:cNvSpPr txBox="1"/>
          <p:nvPr/>
        </p:nvSpPr>
        <p:spPr>
          <a:xfrm>
            <a:off x="751114" y="816429"/>
            <a:ext cx="15479486" cy="683585"/>
          </a:xfrm>
          <a:prstGeom prst="rect">
            <a:avLst/>
          </a:prstGeom>
        </p:spPr>
        <p:txBody>
          <a:bodyPr wrap="square" lIns="0" tIns="0" rIns="0" bIns="0" rtlCol="0" anchor="t">
            <a:spAutoFit/>
          </a:bodyPr>
          <a:lstStyle/>
          <a:p>
            <a:pPr algn="ctr">
              <a:lnSpc>
                <a:spcPts val="5881"/>
              </a:lnSpc>
            </a:pPr>
            <a:r>
              <a:rPr lang="en-US" sz="3200" b="1" dirty="0">
                <a:solidFill>
                  <a:srgbClr val="000000"/>
                </a:solidFill>
                <a:latin typeface="Times New Roman" panose="02020603050405020304" pitchFamily="18" charset="0"/>
                <a:cs typeface="Times New Roman" panose="02020603050405020304" pitchFamily="18" charset="0"/>
              </a:rPr>
              <a:t>EXISTING SYSTEM DISADVANTAGES</a:t>
            </a:r>
          </a:p>
        </p:txBody>
      </p:sp>
      <p:sp>
        <p:nvSpPr>
          <p:cNvPr id="2" name="Rectangle 1">
            <a:extLst>
              <a:ext uri="{FF2B5EF4-FFF2-40B4-BE49-F238E27FC236}">
                <a16:creationId xmlns:a16="http://schemas.microsoft.com/office/drawing/2014/main" id="{D49AF0AE-79B3-9FF9-267D-721229DDBE37}"/>
              </a:ext>
            </a:extLst>
          </p:cNvPr>
          <p:cNvSpPr>
            <a:spLocks noChangeArrowheads="1"/>
          </p:cNvSpPr>
          <p:nvPr/>
        </p:nvSpPr>
        <p:spPr bwMode="auto">
          <a:xfrm rot="10800000" flipV="1">
            <a:off x="1800060" y="4528786"/>
            <a:ext cx="1443054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28B65EA-E63F-ED3E-C755-83B66807EDFA}"/>
              </a:ext>
            </a:extLst>
          </p:cNvPr>
          <p:cNvSpPr txBox="1"/>
          <p:nvPr/>
        </p:nvSpPr>
        <p:spPr>
          <a:xfrm>
            <a:off x="1549399" y="2107254"/>
            <a:ext cx="14938541" cy="5386090"/>
          </a:xfrm>
          <a:prstGeom prst="rect">
            <a:avLst/>
          </a:prstGeom>
          <a:noFill/>
        </p:spPr>
        <p:txBody>
          <a:bodyPr wrap="square" rtlCol="0">
            <a:spAutoFit/>
          </a:bodyPr>
          <a:lstStyle/>
          <a:p>
            <a:endParaRPr lang="en-IN" sz="2800" dirty="0">
              <a:latin typeface="Times New Roman" panose="02020603050405020304" pitchFamily="18" charset="0"/>
              <a:cs typeface="Times New Roman" panose="02020603050405020304" pitchFamily="18" charset="0"/>
            </a:endParaRPr>
          </a:p>
          <a:p>
            <a:pPr marL="457200" lvl="0" indent="-457200">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Manual analysis of audio recordings is extremely time-consuming and labor–intensive  making it difficult to handle large datasets efficiently.</a:t>
            </a:r>
          </a:p>
          <a:p>
            <a:pPr marL="457200" lvl="0" indent="-457200">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Accurate species identification requires specialized expert knowledge, which limits accessibility and scalability for broader ecological studies.</a:t>
            </a:r>
          </a:p>
          <a:p>
            <a:pPr marL="457200" lvl="0" indent="-457200">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Human error is common, particularly in noisy environments or when multiple species’ calls overlap, reducing reliability.</a:t>
            </a:r>
          </a:p>
          <a:p>
            <a:pPr marL="457200" lvl="0" indent="-457200">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Continuous monitoring is challenging as traditional methods cannot process real-time or high-frequency audio streams effectively.</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3">
            <a:extLst>
              <a:ext uri="{FF2B5EF4-FFF2-40B4-BE49-F238E27FC236}">
                <a16:creationId xmlns:a16="http://schemas.microsoft.com/office/drawing/2014/main" id="{0D164A5D-4C0C-5E07-3605-A413EF62F0E3}"/>
              </a:ext>
            </a:extLst>
          </p:cNvPr>
          <p:cNvSpPr txBox="1"/>
          <p:nvPr/>
        </p:nvSpPr>
        <p:spPr>
          <a:xfrm>
            <a:off x="5486399" y="326571"/>
            <a:ext cx="7445805" cy="770147"/>
          </a:xfrm>
          <a:prstGeom prst="rect">
            <a:avLst/>
          </a:prstGeom>
        </p:spPr>
        <p:txBody>
          <a:bodyPr wrap="square" lIns="0" tIns="0" rIns="0" bIns="0" rtlCol="0" anchor="t">
            <a:spAutoFit/>
          </a:bodyPr>
          <a:lstStyle/>
          <a:p>
            <a:pPr algn="ctr">
              <a:lnSpc>
                <a:spcPts val="6788"/>
              </a:lnSpc>
            </a:pPr>
            <a:r>
              <a:rPr lang="en-US" sz="3200" b="1" dirty="0">
                <a:solidFill>
                  <a:srgbClr val="000000"/>
                </a:solidFill>
                <a:latin typeface="Times New Roman" panose="02020603050405020304" pitchFamily="18" charset="0"/>
                <a:cs typeface="Times New Roman" panose="02020603050405020304" pitchFamily="18" charset="0"/>
              </a:rPr>
              <a:t>PROPOSED SYSTEM</a:t>
            </a:r>
          </a:p>
        </p:txBody>
      </p:sp>
      <p:sp>
        <p:nvSpPr>
          <p:cNvPr id="4" name="TextBox 3">
            <a:extLst>
              <a:ext uri="{FF2B5EF4-FFF2-40B4-BE49-F238E27FC236}">
                <a16:creationId xmlns:a16="http://schemas.microsoft.com/office/drawing/2014/main" id="{0AC8AAD8-46E8-444E-11FC-FDF67E3D04F5}"/>
              </a:ext>
            </a:extLst>
          </p:cNvPr>
          <p:cNvSpPr txBox="1"/>
          <p:nvPr/>
        </p:nvSpPr>
        <p:spPr>
          <a:xfrm>
            <a:off x="1264920" y="1219200"/>
            <a:ext cx="15575280" cy="8343118"/>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Audio Data Collection</a:t>
            </a:r>
          </a:p>
          <a:p>
            <a:pPr>
              <a:lnSpc>
                <a:spcPct val="150000"/>
              </a:lnSpc>
            </a:pPr>
            <a:r>
              <a:rPr lang="en-US" sz="2400" dirty="0">
                <a:latin typeface="Times New Roman" panose="02020603050405020304" pitchFamily="18" charset="0"/>
                <a:cs typeface="Times New Roman" panose="02020603050405020304" pitchFamily="18" charset="0"/>
              </a:rPr>
              <a:t>Audio recordings are collected from a bioacoustics dataset containing species-specific sound signals. These recordings serve as the primary input to the system.</a:t>
            </a:r>
          </a:p>
          <a:p>
            <a:pPr marL="342900" indent="-342900">
              <a:lnSpc>
                <a:spcPct val="15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Data Preprocessing and Augmentation</a:t>
            </a:r>
          </a:p>
          <a:p>
            <a:pPr>
              <a:lnSpc>
                <a:spcPct val="150000"/>
              </a:lnSpc>
            </a:pPr>
            <a:r>
              <a:rPr lang="en-US" sz="2400" dirty="0">
                <a:latin typeface="Times New Roman" panose="02020603050405020304" pitchFamily="18" charset="0"/>
                <a:cs typeface="Times New Roman" panose="02020603050405020304" pitchFamily="18" charset="0"/>
              </a:rPr>
              <a:t>Noise reduction and augmentation techniques are applied to improve audio quality and increase data diversity. This helps the model perform better in real-world conditions.</a:t>
            </a:r>
          </a:p>
          <a:p>
            <a:pPr marL="342900" indent="-342900">
              <a:lnSpc>
                <a:spcPct val="15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Train–Test Data Split</a:t>
            </a:r>
          </a:p>
          <a:p>
            <a:pPr>
              <a:lnSpc>
                <a:spcPct val="150000"/>
              </a:lnSpc>
            </a:pPr>
            <a:r>
              <a:rPr lang="en-US" sz="2400" dirty="0">
                <a:latin typeface="Times New Roman" panose="02020603050405020304" pitchFamily="18" charset="0"/>
                <a:cs typeface="Times New Roman" panose="02020603050405020304" pitchFamily="18" charset="0"/>
              </a:rPr>
              <a:t>The processed dataset is divided into training and testing sets in an 80:20 ratio. This ensures reliable model training and unbiased performance evaluation.</a:t>
            </a:r>
          </a:p>
          <a:p>
            <a:pPr marL="342900" indent="-342900">
              <a:lnSpc>
                <a:spcPct val="15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 Feature Extraction</a:t>
            </a:r>
          </a:p>
          <a:p>
            <a:pPr>
              <a:lnSpc>
                <a:spcPct val="150000"/>
              </a:lnSpc>
            </a:pPr>
            <a:r>
              <a:rPr lang="en-US" sz="2400" dirty="0">
                <a:latin typeface="Times New Roman" panose="02020603050405020304" pitchFamily="18" charset="0"/>
                <a:cs typeface="Times New Roman" panose="02020603050405020304" pitchFamily="18" charset="0"/>
              </a:rPr>
              <a:t>Acoustic features such as MFCC, Chroma, and Spectral Contrast are extracted from the audio signals. These features capture essential frequency and perceptual characteristics.</a:t>
            </a:r>
          </a:p>
          <a:p>
            <a:pPr>
              <a:lnSpc>
                <a:spcPct val="150000"/>
              </a:lnSpc>
              <a:buClr>
                <a:schemeClr val="tx1"/>
              </a:buClr>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Spectrogram Generation</a:t>
            </a:r>
          </a:p>
          <a:p>
            <a:pPr>
              <a:lnSpc>
                <a:spcPct val="150000"/>
              </a:lnSpc>
            </a:pPr>
            <a:r>
              <a:rPr lang="en-US" sz="2400" dirty="0">
                <a:latin typeface="Times New Roman" panose="02020603050405020304" pitchFamily="18" charset="0"/>
                <a:cs typeface="Times New Roman" panose="02020603050405020304" pitchFamily="18" charset="0"/>
              </a:rPr>
              <a:t>Mel-spectrogram and STFT representations are generated to analyze time–frequency patterns. These representations highlight temporal and spectral variations in audio signals.</a:t>
            </a:r>
            <a:r>
              <a:rPr lang="en-US" sz="2400" b="1" dirty="0"/>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356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3305BC-A8AE-03CA-E845-607EE43B00B1}"/>
              </a:ext>
            </a:extLst>
          </p:cNvPr>
          <p:cNvSpPr>
            <a:spLocks noGrp="1"/>
          </p:cNvSpPr>
          <p:nvPr>
            <p:ph idx="1"/>
          </p:nvPr>
        </p:nvSpPr>
        <p:spPr>
          <a:xfrm>
            <a:off x="1295401" y="1082040"/>
            <a:ext cx="15228408" cy="8061960"/>
          </a:xfrm>
        </p:spPr>
        <p:txBody>
          <a:bodyPr>
            <a:normAutofit fontScale="92500" lnSpcReduction="20000"/>
          </a:bodyPr>
          <a:lstStyle/>
          <a:p>
            <a:pPr>
              <a:lnSpc>
                <a:spcPct val="150000"/>
              </a:lnSpc>
              <a:buClr>
                <a:schemeClr val="tx1"/>
              </a:buClr>
              <a:buFont typeface="Wingdings" panose="05000000000000000000" pitchFamily="2" charset="2"/>
              <a:buChar char="§"/>
            </a:pPr>
            <a:r>
              <a:rPr lang="en-US" sz="2600" b="1" dirty="0">
                <a:solidFill>
                  <a:schemeClr val="tx1"/>
                </a:solidFill>
                <a:latin typeface="Times New Roman" panose="02020603050405020304" pitchFamily="18" charset="0"/>
                <a:cs typeface="Times New Roman" panose="02020603050405020304" pitchFamily="18" charset="0"/>
              </a:rPr>
              <a:t>Deep Feature Extraction</a:t>
            </a:r>
          </a:p>
          <a:p>
            <a:pPr marL="68580" indent="0">
              <a:lnSpc>
                <a:spcPct val="150000"/>
              </a:lnSpc>
              <a:buClr>
                <a:schemeClr val="tx1"/>
              </a:buClr>
              <a:buNone/>
            </a:pPr>
            <a:r>
              <a:rPr lang="en-US" sz="2600" dirty="0">
                <a:solidFill>
                  <a:schemeClr val="tx1"/>
                </a:solidFill>
                <a:latin typeface="Times New Roman" panose="02020603050405020304" pitchFamily="18" charset="0"/>
                <a:cs typeface="Times New Roman" panose="02020603050405020304" pitchFamily="18" charset="0"/>
              </a:rPr>
              <a:t>Deep learning models extract high-level features from spectrograms automatically. These learned features capture complex sound patterns beyond manual feature design.</a:t>
            </a:r>
          </a:p>
          <a:p>
            <a:pPr>
              <a:lnSpc>
                <a:spcPct val="150000"/>
              </a:lnSpc>
              <a:buClr>
                <a:schemeClr val="tx1"/>
              </a:buClr>
              <a:buFont typeface="Wingdings" panose="05000000000000000000" pitchFamily="2" charset="2"/>
              <a:buChar char="§"/>
            </a:pPr>
            <a:r>
              <a:rPr lang="en-US" sz="2600" b="1" dirty="0">
                <a:solidFill>
                  <a:schemeClr val="tx1"/>
                </a:solidFill>
                <a:latin typeface="Times New Roman" panose="02020603050405020304" pitchFamily="18" charset="0"/>
                <a:cs typeface="Times New Roman" panose="02020603050405020304" pitchFamily="18" charset="0"/>
              </a:rPr>
              <a:t>Hybrid Feature Representation</a:t>
            </a:r>
          </a:p>
          <a:p>
            <a:pPr marL="68580" indent="0">
              <a:lnSpc>
                <a:spcPct val="150000"/>
              </a:lnSpc>
              <a:buClr>
                <a:schemeClr val="tx1"/>
              </a:buClr>
              <a:buNone/>
            </a:pPr>
            <a:r>
              <a:rPr lang="en-US" sz="2600" dirty="0">
                <a:solidFill>
                  <a:schemeClr val="tx1"/>
                </a:solidFill>
                <a:latin typeface="Times New Roman" panose="02020603050405020304" pitchFamily="18" charset="0"/>
                <a:cs typeface="Times New Roman" panose="02020603050405020304" pitchFamily="18" charset="0"/>
              </a:rPr>
              <a:t>Handcrafted and deep features are combined to form a comprehensive feature set. This improves class discrimination and overall classification accuracy.</a:t>
            </a:r>
          </a:p>
          <a:p>
            <a:pPr>
              <a:lnSpc>
                <a:spcPct val="150000"/>
              </a:lnSpc>
              <a:buClr>
                <a:schemeClr val="tx1"/>
              </a:buClr>
              <a:buFont typeface="Wingdings" panose="05000000000000000000" pitchFamily="2" charset="2"/>
              <a:buChar char="§"/>
            </a:pPr>
            <a:r>
              <a:rPr lang="en-US" sz="2600" b="1" dirty="0">
                <a:solidFill>
                  <a:schemeClr val="tx1"/>
                </a:solidFill>
                <a:latin typeface="Times New Roman" panose="02020603050405020304" pitchFamily="18" charset="0"/>
                <a:cs typeface="Times New Roman" panose="02020603050405020304" pitchFamily="18" charset="0"/>
              </a:rPr>
              <a:t>Model Training and Ensemble Learning</a:t>
            </a:r>
          </a:p>
          <a:p>
            <a:pPr marL="68580" indent="0">
              <a:lnSpc>
                <a:spcPct val="150000"/>
              </a:lnSpc>
              <a:buClr>
                <a:schemeClr val="tx1"/>
              </a:buClr>
              <a:buNone/>
            </a:pPr>
            <a:r>
              <a:rPr lang="en-US" sz="2600" dirty="0">
                <a:solidFill>
                  <a:schemeClr val="tx1"/>
                </a:solidFill>
                <a:latin typeface="Times New Roman" panose="02020603050405020304" pitchFamily="18" charset="0"/>
                <a:cs typeface="Times New Roman" panose="02020603050405020304" pitchFamily="18" charset="0"/>
              </a:rPr>
              <a:t>Machine learning and hybrid ensemble models are trained using the extracted features. Ensemble learning enhances robustness and reduces classification errors.</a:t>
            </a:r>
          </a:p>
          <a:p>
            <a:pPr>
              <a:lnSpc>
                <a:spcPct val="150000"/>
              </a:lnSpc>
              <a:buClr>
                <a:schemeClr val="tx1"/>
              </a:buClr>
              <a:buFont typeface="Wingdings" panose="05000000000000000000" pitchFamily="2" charset="2"/>
              <a:buChar char="§"/>
            </a:pPr>
            <a:r>
              <a:rPr lang="en-US" sz="2600" b="1" dirty="0">
                <a:solidFill>
                  <a:schemeClr val="tx1"/>
                </a:solidFill>
                <a:latin typeface="Times New Roman" panose="02020603050405020304" pitchFamily="18" charset="0"/>
                <a:cs typeface="Times New Roman" panose="02020603050405020304" pitchFamily="18" charset="0"/>
              </a:rPr>
              <a:t>Model Evaluation</a:t>
            </a:r>
          </a:p>
          <a:p>
            <a:pPr marL="68580" indent="0">
              <a:lnSpc>
                <a:spcPct val="150000"/>
              </a:lnSpc>
              <a:buClr>
                <a:schemeClr val="tx1"/>
              </a:buClr>
              <a:buNone/>
            </a:pPr>
            <a:r>
              <a:rPr lang="en-US" sz="2600" dirty="0">
                <a:solidFill>
                  <a:schemeClr val="tx1"/>
                </a:solidFill>
                <a:latin typeface="Times New Roman" panose="02020603050405020304" pitchFamily="18" charset="0"/>
                <a:cs typeface="Times New Roman" panose="02020603050405020304" pitchFamily="18" charset="0"/>
              </a:rPr>
              <a:t>The trained models are evaluated using accuracy, F1-score, AUC, and confusion matrix. These metrics measure the effectiveness of the classification system</a:t>
            </a:r>
          </a:p>
          <a:p>
            <a:pPr>
              <a:lnSpc>
                <a:spcPct val="150000"/>
              </a:lnSpc>
              <a:buClr>
                <a:schemeClr val="tx1"/>
              </a:buClr>
              <a:buFont typeface="Wingdings" panose="05000000000000000000" pitchFamily="2" charset="2"/>
              <a:buChar char="§"/>
            </a:pP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3716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TextBox 8"/>
          <p:cNvSpPr txBox="1"/>
          <p:nvPr/>
        </p:nvSpPr>
        <p:spPr>
          <a:xfrm>
            <a:off x="5584371" y="525686"/>
            <a:ext cx="6596743" cy="1738543"/>
          </a:xfrm>
          <a:prstGeom prst="rect">
            <a:avLst/>
          </a:prstGeom>
        </p:spPr>
        <p:txBody>
          <a:bodyPr lIns="50800" tIns="50800" rIns="50800" bIns="50800" rtlCol="0" anchor="ctr"/>
          <a:lstStyle/>
          <a:p>
            <a:pPr algn="ctr">
              <a:lnSpc>
                <a:spcPts val="2659"/>
              </a:lnSpc>
              <a:spcBef>
                <a:spcPct val="0"/>
              </a:spcBef>
            </a:pPr>
            <a:endParaRPr/>
          </a:p>
        </p:txBody>
      </p:sp>
      <p:sp>
        <p:nvSpPr>
          <p:cNvPr id="1048652" name="TextBox 12"/>
          <p:cNvSpPr txBox="1"/>
          <p:nvPr/>
        </p:nvSpPr>
        <p:spPr>
          <a:xfrm>
            <a:off x="533398" y="2193522"/>
            <a:ext cx="16650551" cy="6460871"/>
          </a:xfrm>
          <a:prstGeom prst="rect">
            <a:avLst/>
          </a:prstGeom>
        </p:spPr>
        <p:txBody>
          <a:bodyPr wrap="square" lIns="0" tIns="0" rIns="0" bIns="0" rtlCol="0" anchor="t">
            <a:spAutoFit/>
          </a:bodyPr>
          <a:lstStyle/>
          <a:p>
            <a:pPr marL="390278" lvl="1" algn="just">
              <a:lnSpc>
                <a:spcPts val="5061"/>
              </a:lnSpc>
            </a:pPr>
            <a:endParaRPr lang="en-GB" sz="2800" dirty="0">
              <a:latin typeface="Times New Roman" panose="02020603050405020304" pitchFamily="18" charset="0"/>
              <a:cs typeface="Times New Roman" panose="02020603050405020304" pitchFamily="18" charset="0"/>
            </a:endParaRPr>
          </a:p>
          <a:p>
            <a:pPr marL="390278" lvl="1" algn="just">
              <a:lnSpc>
                <a:spcPts val="5061"/>
              </a:lnSpc>
            </a:pPr>
            <a:endParaRPr lang="en-GB" sz="2800" dirty="0">
              <a:latin typeface="Times New Roman" panose="02020603050405020304" pitchFamily="18" charset="0"/>
              <a:cs typeface="Times New Roman" panose="02020603050405020304" pitchFamily="18" charset="0"/>
            </a:endParaRPr>
          </a:p>
          <a:p>
            <a:pPr marL="390278" lvl="1" algn="just">
              <a:lnSpc>
                <a:spcPts val="5061"/>
              </a:lnSpc>
            </a:pPr>
            <a:endParaRPr lang="en-GB" sz="2800" dirty="0">
              <a:latin typeface="Times New Roman" panose="02020603050405020304" pitchFamily="18" charset="0"/>
              <a:cs typeface="Times New Roman" panose="02020603050405020304" pitchFamily="18" charset="0"/>
            </a:endParaRPr>
          </a:p>
          <a:p>
            <a:pPr marL="390278" lvl="1" algn="just">
              <a:lnSpc>
                <a:spcPts val="5061"/>
              </a:lnSpc>
            </a:pPr>
            <a:endParaRPr lang="en-GB" sz="2800" dirty="0">
              <a:latin typeface="Times New Roman" panose="02020603050405020304" pitchFamily="18" charset="0"/>
              <a:cs typeface="Times New Roman" panose="02020603050405020304" pitchFamily="18" charset="0"/>
            </a:endParaRPr>
          </a:p>
          <a:p>
            <a:pPr marL="390278" lvl="1" algn="just">
              <a:lnSpc>
                <a:spcPts val="5061"/>
              </a:lnSpc>
            </a:pPr>
            <a:endParaRPr lang="en-GB" sz="2800" dirty="0">
              <a:latin typeface="Times New Roman" panose="02020603050405020304" pitchFamily="18" charset="0"/>
              <a:cs typeface="Times New Roman" panose="02020603050405020304" pitchFamily="18" charset="0"/>
            </a:endParaRPr>
          </a:p>
          <a:p>
            <a:pPr marL="390278" lvl="1" algn="just">
              <a:lnSpc>
                <a:spcPts val="5061"/>
              </a:lnSpc>
            </a:pPr>
            <a:endParaRPr lang="en-GB" sz="2800" dirty="0">
              <a:latin typeface="Times New Roman" panose="02020603050405020304" pitchFamily="18" charset="0"/>
              <a:cs typeface="Times New Roman" panose="02020603050405020304" pitchFamily="18" charset="0"/>
            </a:endParaRPr>
          </a:p>
          <a:p>
            <a:pPr marL="390278" lvl="1" algn="just">
              <a:lnSpc>
                <a:spcPts val="5061"/>
              </a:lnSpc>
            </a:pPr>
            <a:endParaRPr lang="en-GB" sz="2800" dirty="0">
              <a:latin typeface="Times New Roman" panose="02020603050405020304" pitchFamily="18" charset="0"/>
              <a:cs typeface="Times New Roman" panose="02020603050405020304" pitchFamily="18" charset="0"/>
            </a:endParaRPr>
          </a:p>
          <a:p>
            <a:pPr marL="390278" lvl="1" algn="just">
              <a:lnSpc>
                <a:spcPts val="5061"/>
              </a:lnSpc>
            </a:pPr>
            <a:endParaRPr lang="en-GB" sz="2800" dirty="0">
              <a:latin typeface="Times New Roman" panose="02020603050405020304" pitchFamily="18" charset="0"/>
              <a:cs typeface="Times New Roman" panose="02020603050405020304" pitchFamily="18" charset="0"/>
            </a:endParaRPr>
          </a:p>
          <a:p>
            <a:pPr marL="390278" lvl="1" algn="just">
              <a:lnSpc>
                <a:spcPts val="5061"/>
              </a:lnSpc>
            </a:pPr>
            <a:endParaRPr lang="en-GB" sz="2800" dirty="0">
              <a:latin typeface="Times New Roman" panose="02020603050405020304" pitchFamily="18" charset="0"/>
              <a:cs typeface="Times New Roman" panose="02020603050405020304" pitchFamily="18" charset="0"/>
            </a:endParaRPr>
          </a:p>
          <a:p>
            <a:pPr marL="390278" lvl="1" algn="just">
              <a:lnSpc>
                <a:spcPts val="5061"/>
              </a:lnSpc>
            </a:pPr>
            <a:endParaRPr lang="en-GB" sz="2800" dirty="0">
              <a:latin typeface="Times New Roman" panose="02020603050405020304" pitchFamily="18" charset="0"/>
              <a:cs typeface="Times New Roman" panose="02020603050405020304" pitchFamily="18" charset="0"/>
            </a:endParaRPr>
          </a:p>
        </p:txBody>
      </p:sp>
      <p:sp>
        <p:nvSpPr>
          <p:cNvPr id="1048653" name="TextBox 14"/>
          <p:cNvSpPr txBox="1"/>
          <p:nvPr/>
        </p:nvSpPr>
        <p:spPr>
          <a:xfrm>
            <a:off x="1415792" y="773360"/>
            <a:ext cx="15201900" cy="682879"/>
          </a:xfrm>
          <a:prstGeom prst="rect">
            <a:avLst/>
          </a:prstGeom>
        </p:spPr>
        <p:txBody>
          <a:bodyPr wrap="square" lIns="0" tIns="0" rIns="0" bIns="0" rtlCol="0" anchor="t">
            <a:spAutoFit/>
          </a:bodyPr>
          <a:lstStyle/>
          <a:p>
            <a:pPr algn="ctr">
              <a:lnSpc>
                <a:spcPts val="6073"/>
              </a:lnSpc>
            </a:pPr>
            <a:r>
              <a:rPr lang="en-US" sz="3200" b="1" dirty="0">
                <a:solidFill>
                  <a:srgbClr val="000000"/>
                </a:solidFill>
                <a:latin typeface="Times New Roman" panose="02020603050405020304" pitchFamily="18" charset="0"/>
                <a:cs typeface="Times New Roman" panose="02020603050405020304" pitchFamily="18" charset="0"/>
              </a:rPr>
              <a:t>PROPOSED SYSTEM  (ADVANTAGES)</a:t>
            </a:r>
          </a:p>
        </p:txBody>
      </p:sp>
      <p:sp>
        <p:nvSpPr>
          <p:cNvPr id="4" name="Rectangle 3">
            <a:extLst>
              <a:ext uri="{FF2B5EF4-FFF2-40B4-BE49-F238E27FC236}">
                <a16:creationId xmlns:a16="http://schemas.microsoft.com/office/drawing/2014/main" id="{C7512FC7-0AC1-6DA5-AEF4-FA894993507F}"/>
              </a:ext>
            </a:extLst>
          </p:cNvPr>
          <p:cNvSpPr>
            <a:spLocks noChangeArrowheads="1"/>
          </p:cNvSpPr>
          <p:nvPr/>
        </p:nvSpPr>
        <p:spPr bwMode="auto">
          <a:xfrm>
            <a:off x="691468" y="4350967"/>
            <a:ext cx="1665054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endParaRPr lang="en-US" altLang="en-US" sz="28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lang="en-US" altLang="en-US" sz="28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D31ED2F-160A-D3D3-AE78-7B4AD4A65D42}"/>
              </a:ext>
            </a:extLst>
          </p:cNvPr>
          <p:cNvSpPr txBox="1"/>
          <p:nvPr/>
        </p:nvSpPr>
        <p:spPr>
          <a:xfrm>
            <a:off x="1730829" y="2264229"/>
            <a:ext cx="14744700" cy="3985194"/>
          </a:xfrm>
          <a:prstGeom prst="rect">
            <a:avLst/>
          </a:prstGeom>
          <a:noFill/>
        </p:spPr>
        <p:txBody>
          <a:bodyPr wrap="square" rtlCol="0">
            <a:spAutoFit/>
          </a:bodyPr>
          <a:lstStyle/>
          <a:p>
            <a:pPr marL="342900" lvl="0" indent="-342900" defTabSz="914400" eaLnBrk="0" fontAlgn="base" hangingPunct="0">
              <a:spcBef>
                <a:spcPct val="0"/>
              </a:spcBef>
              <a:spcAft>
                <a:spcPct val="0"/>
              </a:spcAft>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Time-Saving:</a:t>
            </a:r>
            <a:r>
              <a:rPr lang="en-US" altLang="en-US" sz="2400" dirty="0">
                <a:latin typeface="Times New Roman" panose="02020603050405020304" pitchFamily="18" charset="0"/>
                <a:cs typeface="Times New Roman" panose="02020603050405020304" pitchFamily="18" charset="0"/>
              </a:rPr>
              <a:t> Automated feature extraction and classification reduce manual effort.</a:t>
            </a:r>
          </a:p>
          <a:p>
            <a:pPr lvl="0" defTabSz="914400" eaLnBrk="0" fontAlgn="base" hangingPunct="0">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a:p>
            <a:pPr marL="342900" lvl="0" indent="-342900" defTabSz="914400" eaLnBrk="0" fontAlgn="base" hangingPunct="0">
              <a:spcBef>
                <a:spcPct val="0"/>
              </a:spcBef>
              <a:spcAft>
                <a:spcPct val="0"/>
              </a:spcAft>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High Accuracy:</a:t>
            </a:r>
            <a:r>
              <a:rPr lang="en-US" altLang="en-US" sz="2400" dirty="0">
                <a:latin typeface="Times New Roman" panose="02020603050405020304" pitchFamily="18" charset="0"/>
                <a:cs typeface="Times New Roman" panose="02020603050405020304" pitchFamily="18" charset="0"/>
              </a:rPr>
              <a:t> Hybrid SVC + LGBM model improves prediction accuracy and reliability.</a:t>
            </a:r>
          </a:p>
          <a:p>
            <a:pPr lvl="0" defTabSz="914400" eaLnBrk="0" fontAlgn="base" hangingPunct="0">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a:p>
            <a:pPr marL="342900" lvl="0" indent="-342900" defTabSz="914400" eaLnBrk="0" fontAlgn="base" hangingPunct="0">
              <a:spcBef>
                <a:spcPct val="0"/>
              </a:spcBef>
              <a:spcAft>
                <a:spcPct val="0"/>
              </a:spcAft>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Real-Time Feedback:</a:t>
            </a:r>
            <a:r>
              <a:rPr lang="en-US" altLang="en-US" sz="2400" dirty="0">
                <a:latin typeface="Times New Roman" panose="02020603050405020304" pitchFamily="18" charset="0"/>
                <a:cs typeface="Times New Roman" panose="02020603050405020304" pitchFamily="18" charset="0"/>
              </a:rPr>
              <a:t> Audio playback and wave plot visualization give instant results.</a:t>
            </a:r>
          </a:p>
          <a:p>
            <a:pPr lvl="0" defTabSz="914400" eaLnBrk="0" fontAlgn="base" hangingPunct="0">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a:p>
            <a:pPr marL="342900" lvl="0" indent="-342900" defTabSz="914400" eaLnBrk="0" fontAlgn="base" hangingPunct="0">
              <a:spcBef>
                <a:spcPct val="0"/>
              </a:spcBef>
              <a:spcAft>
                <a:spcPct val="0"/>
              </a:spcAft>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Scalable System:</a:t>
            </a:r>
            <a:r>
              <a:rPr lang="en-US" altLang="en-US" sz="2400" dirty="0">
                <a:latin typeface="Times New Roman" panose="02020603050405020304" pitchFamily="18" charset="0"/>
                <a:cs typeface="Times New Roman" panose="02020603050405020304" pitchFamily="18" charset="0"/>
              </a:rPr>
              <a:t> Easily handles large datasets for continuous monitoring.</a:t>
            </a:r>
          </a:p>
          <a:p>
            <a:pPr lvl="0" defTabSz="914400" eaLnBrk="0" fontAlgn="base" hangingPunct="0">
              <a:spcBef>
                <a:spcPct val="0"/>
              </a:spcBef>
              <a:spcAft>
                <a:spcPct val="0"/>
              </a:spcAft>
            </a:pPr>
            <a:endParaRPr lang="en-US" altLang="en-US" sz="2400" dirty="0">
              <a:latin typeface="Times New Roman" panose="02020603050405020304" pitchFamily="18" charset="0"/>
              <a:cs typeface="Times New Roman" panose="02020603050405020304" pitchFamily="18" charset="0"/>
            </a:endParaRPr>
          </a:p>
          <a:p>
            <a:pPr marL="342900" lvl="0" indent="-342900" defTabSz="914400" eaLnBrk="0" fontAlgn="base" hangingPunct="0">
              <a:spcBef>
                <a:spcPct val="0"/>
              </a:spcBef>
              <a:spcAft>
                <a:spcPct val="0"/>
              </a:spcAft>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Adaptable Design:</a:t>
            </a:r>
            <a:r>
              <a:rPr lang="en-US" altLang="en-US" sz="2400" dirty="0">
                <a:latin typeface="Times New Roman" panose="02020603050405020304" pitchFamily="18" charset="0"/>
                <a:cs typeface="Times New Roman" panose="02020603050405020304" pitchFamily="18" charset="0"/>
              </a:rPr>
              <a:t> Can be applied to various animal species and environments.</a:t>
            </a:r>
          </a:p>
          <a:p>
            <a:pPr marL="457200" indent="-457200" algn="just">
              <a:lnSpc>
                <a:spcPct val="150000"/>
              </a:lnSpc>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46635C-A950-94AD-DBB2-C5E073410F61}"/>
              </a:ext>
            </a:extLst>
          </p:cNvPr>
          <p:cNvSpPr>
            <a:spLocks noGrp="1"/>
          </p:cNvSpPr>
          <p:nvPr>
            <p:ph type="body" idx="1"/>
          </p:nvPr>
        </p:nvSpPr>
        <p:spPr/>
        <p:txBody>
          <a:bodyPr/>
          <a:lstStyle/>
          <a:p>
            <a:r>
              <a:rPr lang="en-US" sz="2800" u="sng" dirty="0">
                <a:solidFill>
                  <a:srgbClr val="000000"/>
                </a:solidFill>
                <a:latin typeface="Times New Roman" panose="02020603050405020304" pitchFamily="18" charset="0"/>
                <a:cs typeface="Times New Roman" panose="02020603050405020304" pitchFamily="18" charset="0"/>
              </a:rPr>
              <a:t>SOFTWARE </a:t>
            </a:r>
            <a:r>
              <a:rPr lang="en-US" sz="2800" b="1" u="sng" dirty="0">
                <a:solidFill>
                  <a:srgbClr val="000000"/>
                </a:solidFill>
                <a:latin typeface="Times New Roman" panose="02020603050405020304" pitchFamily="18" charset="0"/>
                <a:cs typeface="Times New Roman" panose="02020603050405020304" pitchFamily="18" charset="0"/>
              </a:rPr>
              <a:t>REQUIREMENTS</a:t>
            </a:r>
            <a:r>
              <a:rPr lang="en-US" sz="2800" b="1" u="sng" dirty="0">
                <a:solidFill>
                  <a:srgbClr val="000000"/>
                </a:solidFill>
                <a:latin typeface="Bell MT" panose="02020503060305020303" pitchFamily="18" charset="0"/>
                <a:cs typeface="Times New Roman" panose="02020603050405020304" pitchFamily="18" charset="0"/>
              </a:rPr>
              <a:t>:</a:t>
            </a:r>
          </a:p>
          <a:p>
            <a:endParaRPr lang="en-IN" dirty="0"/>
          </a:p>
        </p:txBody>
      </p:sp>
      <p:sp>
        <p:nvSpPr>
          <p:cNvPr id="4" name="Content Placeholder 3">
            <a:extLst>
              <a:ext uri="{FF2B5EF4-FFF2-40B4-BE49-F238E27FC236}">
                <a16:creationId xmlns:a16="http://schemas.microsoft.com/office/drawing/2014/main" id="{87296119-DB25-729B-8584-A9E4A4FA93C6}"/>
              </a:ext>
            </a:extLst>
          </p:cNvPr>
          <p:cNvSpPr>
            <a:spLocks noGrp="1"/>
          </p:cNvSpPr>
          <p:nvPr>
            <p:ph sz="half" idx="2"/>
          </p:nvPr>
        </p:nvSpPr>
        <p:spPr>
          <a:xfrm>
            <a:off x="9144000" y="3560522"/>
            <a:ext cx="4656024" cy="2498272"/>
          </a:xfrm>
        </p:spPr>
        <p:txBody>
          <a:bodyPr>
            <a:normAutofit lnSpcReduction="10000"/>
          </a:bodyPr>
          <a:lstStyle/>
          <a:p>
            <a:pPr marL="0" indent="0">
              <a:buNone/>
            </a:pPr>
            <a:endParaRPr lang="en-IN" sz="3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r>
              <a:rPr lang="en-IN" sz="2400" b="1" dirty="0">
                <a:solidFill>
                  <a:schemeClr val="tx1"/>
                </a:solidFill>
                <a:latin typeface="Times New Roman" panose="02020603050405020304" pitchFamily="18" charset="0"/>
                <a:cs typeface="Times New Roman" panose="02020603050405020304" pitchFamily="18" charset="0"/>
              </a:rPr>
              <a:t>Processor:</a:t>
            </a:r>
            <a:r>
              <a:rPr lang="en-IN" sz="2400" dirty="0">
                <a:solidFill>
                  <a:schemeClr val="tx1"/>
                </a:solidFill>
                <a:latin typeface="Times New Roman" panose="02020603050405020304" pitchFamily="18" charset="0"/>
                <a:cs typeface="Times New Roman" panose="02020603050405020304" pitchFamily="18" charset="0"/>
              </a:rPr>
              <a:t> Intel i5</a:t>
            </a:r>
          </a:p>
          <a:p>
            <a:pPr lvl="0"/>
            <a:r>
              <a:rPr lang="en-IN" sz="2400" b="1" dirty="0">
                <a:solidFill>
                  <a:schemeClr val="tx1"/>
                </a:solidFill>
                <a:latin typeface="Times New Roman" panose="02020603050405020304" pitchFamily="18" charset="0"/>
                <a:cs typeface="Times New Roman" panose="02020603050405020304" pitchFamily="18" charset="0"/>
              </a:rPr>
              <a:t>Memory:</a:t>
            </a:r>
            <a:r>
              <a:rPr lang="en-IN" sz="2400" dirty="0">
                <a:solidFill>
                  <a:schemeClr val="tx1"/>
                </a:solidFill>
                <a:latin typeface="Times New Roman" panose="02020603050405020304" pitchFamily="18" charset="0"/>
                <a:cs typeface="Times New Roman" panose="02020603050405020304" pitchFamily="18" charset="0"/>
              </a:rPr>
              <a:t> 1 TB (storage)</a:t>
            </a:r>
          </a:p>
          <a:p>
            <a:pPr lvl="0"/>
            <a:r>
              <a:rPr lang="en-IN" sz="2400" b="1" dirty="0">
                <a:solidFill>
                  <a:schemeClr val="tx1"/>
                </a:solidFill>
                <a:latin typeface="Times New Roman" panose="02020603050405020304" pitchFamily="18" charset="0"/>
                <a:cs typeface="Times New Roman" panose="02020603050405020304" pitchFamily="18" charset="0"/>
              </a:rPr>
              <a:t>RAM: </a:t>
            </a:r>
            <a:r>
              <a:rPr lang="en-IN" sz="2400" dirty="0">
                <a:solidFill>
                  <a:schemeClr val="tx1"/>
                </a:solidFill>
                <a:latin typeface="Times New Roman" panose="02020603050405020304" pitchFamily="18" charset="0"/>
                <a:cs typeface="Times New Roman" panose="02020603050405020304" pitchFamily="18" charset="0"/>
              </a:rPr>
              <a:t>8 GB</a:t>
            </a:r>
          </a:p>
        </p:txBody>
      </p:sp>
      <p:sp>
        <p:nvSpPr>
          <p:cNvPr id="5" name="Text Placeholder 4">
            <a:extLst>
              <a:ext uri="{FF2B5EF4-FFF2-40B4-BE49-F238E27FC236}">
                <a16:creationId xmlns:a16="http://schemas.microsoft.com/office/drawing/2014/main" id="{51DE2522-AB36-D5DB-5AEB-CFC0B0E2423D}"/>
              </a:ext>
            </a:extLst>
          </p:cNvPr>
          <p:cNvSpPr>
            <a:spLocks noGrp="1"/>
          </p:cNvSpPr>
          <p:nvPr>
            <p:ph type="body" sz="quarter" idx="3"/>
          </p:nvPr>
        </p:nvSpPr>
        <p:spPr/>
        <p:txBody>
          <a:bodyPr/>
          <a:lstStyle/>
          <a:p>
            <a:r>
              <a:rPr lang="en-US" sz="2800" u="sng" dirty="0">
                <a:solidFill>
                  <a:srgbClr val="000000"/>
                </a:solidFill>
                <a:latin typeface="Times New Roman" panose="02020603050405020304" pitchFamily="18" charset="0"/>
                <a:cs typeface="Times New Roman" panose="02020603050405020304" pitchFamily="18" charset="0"/>
              </a:rPr>
              <a:t>HARDWARE </a:t>
            </a:r>
            <a:r>
              <a:rPr lang="en-US" sz="2800" b="1" u="sng" dirty="0">
                <a:solidFill>
                  <a:srgbClr val="000000"/>
                </a:solidFill>
                <a:latin typeface="Times New Roman" panose="02020603050405020304" pitchFamily="18" charset="0"/>
                <a:cs typeface="Times New Roman" panose="02020603050405020304" pitchFamily="18" charset="0"/>
              </a:rPr>
              <a:t> REQUIREMENTS:</a:t>
            </a:r>
          </a:p>
          <a:p>
            <a:endParaRPr lang="en-IN" dirty="0"/>
          </a:p>
        </p:txBody>
      </p:sp>
      <p:sp>
        <p:nvSpPr>
          <p:cNvPr id="6" name="Content Placeholder 5">
            <a:extLst>
              <a:ext uri="{FF2B5EF4-FFF2-40B4-BE49-F238E27FC236}">
                <a16:creationId xmlns:a16="http://schemas.microsoft.com/office/drawing/2014/main" id="{8814ECFB-27C9-7115-CDF6-DB7D98AD6D56}"/>
              </a:ext>
            </a:extLst>
          </p:cNvPr>
          <p:cNvSpPr>
            <a:spLocks noGrp="1"/>
          </p:cNvSpPr>
          <p:nvPr>
            <p:ph sz="quarter" idx="4"/>
          </p:nvPr>
        </p:nvSpPr>
        <p:spPr>
          <a:xfrm>
            <a:off x="1567544" y="3429000"/>
            <a:ext cx="5070022" cy="3510643"/>
          </a:xfrm>
        </p:spPr>
        <p:txBody>
          <a:bodyPr>
            <a:normAutofit lnSpcReduction="10000"/>
          </a:bodyPr>
          <a:lstStyle/>
          <a:p>
            <a:pPr marL="0" indent="0">
              <a:buNone/>
            </a:pPr>
            <a:endParaRPr lang="en-IN" dirty="0"/>
          </a:p>
          <a:p>
            <a:pPr lvl="0"/>
            <a:r>
              <a:rPr lang="en-IN" sz="2400" b="1" dirty="0">
                <a:solidFill>
                  <a:schemeClr val="tx1"/>
                </a:solidFill>
                <a:latin typeface="Times New Roman" panose="02020603050405020304" pitchFamily="18" charset="0"/>
                <a:cs typeface="Times New Roman" panose="02020603050405020304" pitchFamily="18" charset="0"/>
              </a:rPr>
              <a:t>Python</a:t>
            </a:r>
            <a:r>
              <a:rPr lang="en-IN" sz="2400" dirty="0">
                <a:solidFill>
                  <a:schemeClr val="tx1"/>
                </a:solidFill>
                <a:latin typeface="Times New Roman" panose="02020603050405020304" pitchFamily="18" charset="0"/>
                <a:cs typeface="Times New Roman" panose="02020603050405020304" pitchFamily="18" charset="0"/>
              </a:rPr>
              <a:t> 3.7.6</a:t>
            </a:r>
          </a:p>
          <a:p>
            <a:pPr lvl="0"/>
            <a:r>
              <a:rPr lang="en-IN" sz="2400" b="1" dirty="0">
                <a:solidFill>
                  <a:schemeClr val="tx1"/>
                </a:solidFill>
                <a:latin typeface="Times New Roman" panose="02020603050405020304" pitchFamily="18" charset="0"/>
                <a:cs typeface="Times New Roman" panose="02020603050405020304" pitchFamily="18" charset="0"/>
              </a:rPr>
              <a:t>Operating system: </a:t>
            </a:r>
            <a:r>
              <a:rPr lang="en-IN" sz="2400" dirty="0">
                <a:solidFill>
                  <a:schemeClr val="tx1"/>
                </a:solidFill>
                <a:latin typeface="Times New Roman" panose="02020603050405020304" pitchFamily="18" charset="0"/>
                <a:cs typeface="Times New Roman" panose="02020603050405020304" pitchFamily="18" charset="0"/>
              </a:rPr>
              <a:t>Windows</a:t>
            </a:r>
          </a:p>
          <a:p>
            <a:pPr lvl="0"/>
            <a:r>
              <a:rPr lang="en-IN" sz="2400" b="1" dirty="0">
                <a:solidFill>
                  <a:schemeClr val="tx1"/>
                </a:solidFill>
                <a:latin typeface="Times New Roman" panose="02020603050405020304" pitchFamily="18" charset="0"/>
                <a:cs typeface="Times New Roman" panose="02020603050405020304" pitchFamily="18" charset="0"/>
              </a:rPr>
              <a:t>Development Tools:</a:t>
            </a:r>
            <a:r>
              <a:rPr lang="en-IN" sz="2400" dirty="0">
                <a:solidFill>
                  <a:schemeClr val="tx1"/>
                </a:solidFill>
                <a:latin typeface="Times New Roman" panose="02020603050405020304" pitchFamily="18" charset="0"/>
                <a:cs typeface="Times New Roman" panose="02020603050405020304" pitchFamily="18" charset="0"/>
              </a:rPr>
              <a:t>VS Code</a:t>
            </a:r>
          </a:p>
          <a:p>
            <a:pPr lvl="0"/>
            <a:r>
              <a:rPr lang="en-IN" sz="2400" b="1" dirty="0">
                <a:solidFill>
                  <a:schemeClr val="tx1"/>
                </a:solidFill>
                <a:latin typeface="Times New Roman" panose="02020603050405020304" pitchFamily="18" charset="0"/>
                <a:cs typeface="Times New Roman" panose="02020603050405020304" pitchFamily="18" charset="0"/>
              </a:rPr>
              <a:t>GUI: </a:t>
            </a:r>
            <a:r>
              <a:rPr lang="en-IN" sz="2400" dirty="0" err="1">
                <a:solidFill>
                  <a:schemeClr val="tx1"/>
                </a:solidFill>
                <a:latin typeface="Times New Roman" panose="02020603050405020304" pitchFamily="18" charset="0"/>
                <a:cs typeface="Times New Roman" panose="02020603050405020304" pitchFamily="18" charset="0"/>
              </a:rPr>
              <a:t>Tkinter</a:t>
            </a:r>
            <a:endParaRPr lang="en-IN" sz="2400" dirty="0">
              <a:solidFill>
                <a:schemeClr val="tx1"/>
              </a:solidFill>
              <a:latin typeface="Times New Roman" panose="02020603050405020304" pitchFamily="18" charset="0"/>
              <a:cs typeface="Times New Roman" panose="02020603050405020304" pitchFamily="18" charset="0"/>
            </a:endParaRPr>
          </a:p>
          <a:p>
            <a:pPr lvl="0"/>
            <a:r>
              <a:rPr lang="en-IN" sz="2400" b="1" dirty="0">
                <a:solidFill>
                  <a:schemeClr val="tx1"/>
                </a:solidFill>
                <a:latin typeface="Times New Roman" panose="02020603050405020304" pitchFamily="18" charset="0"/>
                <a:cs typeface="Times New Roman" panose="02020603050405020304" pitchFamily="18" charset="0"/>
              </a:rPr>
              <a:t>Database: </a:t>
            </a:r>
            <a:r>
              <a:rPr lang="en-IN" sz="2400" dirty="0" err="1">
                <a:solidFill>
                  <a:schemeClr val="tx1"/>
                </a:solidFill>
                <a:latin typeface="Times New Roman" panose="02020603050405020304" pitchFamily="18" charset="0"/>
                <a:cs typeface="Times New Roman" panose="02020603050405020304" pitchFamily="18" charset="0"/>
              </a:rPr>
              <a:t>TinyDB</a:t>
            </a:r>
            <a:endParaRPr lang="en-IN" sz="2400" b="1" dirty="0">
              <a:solidFill>
                <a:schemeClr val="tx1"/>
              </a:solidFill>
              <a:latin typeface="Times New Roman" panose="02020603050405020304" pitchFamily="18" charset="0"/>
              <a:cs typeface="Times New Roman" panose="02020603050405020304" pitchFamily="18" charset="0"/>
            </a:endParaRPr>
          </a:p>
          <a:p>
            <a:pPr lvl="0"/>
            <a:endParaRPr lang="en-IN" sz="24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solidFill>
                <a:schemeClr val="tx1"/>
              </a:solidFill>
            </a:endParaRPr>
          </a:p>
        </p:txBody>
      </p:sp>
      <p:sp>
        <p:nvSpPr>
          <p:cNvPr id="11" name="TextBox 10">
            <a:extLst>
              <a:ext uri="{FF2B5EF4-FFF2-40B4-BE49-F238E27FC236}">
                <a16:creationId xmlns:a16="http://schemas.microsoft.com/office/drawing/2014/main" id="{FDE51F5D-EA1A-3C99-623C-7234A654A605}"/>
              </a:ext>
            </a:extLst>
          </p:cNvPr>
          <p:cNvSpPr txBox="1"/>
          <p:nvPr/>
        </p:nvSpPr>
        <p:spPr>
          <a:xfrm>
            <a:off x="4748981" y="687306"/>
            <a:ext cx="8967019" cy="782394"/>
          </a:xfrm>
          <a:prstGeom prst="rect">
            <a:avLst/>
          </a:prstGeom>
          <a:noFill/>
        </p:spPr>
        <p:txBody>
          <a:bodyPr wrap="square">
            <a:spAutoFit/>
          </a:bodyPr>
          <a:lstStyle/>
          <a:p>
            <a:pPr algn="ctr">
              <a:lnSpc>
                <a:spcPts val="6310"/>
              </a:lnSpc>
            </a:pPr>
            <a:r>
              <a:rPr lang="en-US" sz="2800" b="1" dirty="0">
                <a:solidFill>
                  <a:srgbClr val="000000"/>
                </a:solidFill>
                <a:latin typeface="Times New Roman" panose="02020603050405020304" pitchFamily="18" charset="0"/>
                <a:cs typeface="Times New Roman" panose="02020603050405020304" pitchFamily="18" charset="0"/>
              </a:rPr>
              <a:t>SOFTWARE &amp; HARDWARE REQUIREMENTS</a:t>
            </a:r>
          </a:p>
        </p:txBody>
      </p:sp>
    </p:spTree>
    <p:extLst>
      <p:ext uri="{BB962C8B-B14F-4D97-AF65-F5344CB8AC3E}">
        <p14:creationId xmlns:p14="http://schemas.microsoft.com/office/powerpoint/2010/main" val="1762170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97CC0A0-5FA7-F534-694B-18192531119D}"/>
              </a:ext>
            </a:extLst>
          </p:cNvPr>
          <p:cNvSpPr>
            <a:spLocks noChangeArrowheads="1"/>
          </p:cNvSpPr>
          <p:nvPr/>
        </p:nvSpPr>
        <p:spPr bwMode="auto">
          <a:xfrm rot="10800000" flipV="1">
            <a:off x="1616529" y="2865686"/>
            <a:ext cx="13667014"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Proposes an automated deep learning–based system for animal species identification using bio-acoustic recordings.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Eliminates manual feature extraction by learning discriminative features directly from audio/spectrogram data.</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identification accuracy under real-world noisy environmental conditions.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multi-species classification across different habitats using a single unified model.</a:t>
            </a:r>
          </a:p>
        </p:txBody>
      </p:sp>
      <p:sp>
        <p:nvSpPr>
          <p:cNvPr id="4" name="TextBox 3">
            <a:extLst>
              <a:ext uri="{FF2B5EF4-FFF2-40B4-BE49-F238E27FC236}">
                <a16:creationId xmlns:a16="http://schemas.microsoft.com/office/drawing/2014/main" id="{2461A670-64F0-DD43-4EE7-D15ED781B496}"/>
              </a:ext>
            </a:extLst>
          </p:cNvPr>
          <p:cNvSpPr txBox="1"/>
          <p:nvPr/>
        </p:nvSpPr>
        <p:spPr>
          <a:xfrm>
            <a:off x="1959428" y="1436913"/>
            <a:ext cx="13667014"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NOVELTY OF THE PROJECT</a:t>
            </a:r>
          </a:p>
        </p:txBody>
      </p:sp>
    </p:spTree>
    <p:extLst>
      <p:ext uri="{BB962C8B-B14F-4D97-AF65-F5344CB8AC3E}">
        <p14:creationId xmlns:p14="http://schemas.microsoft.com/office/powerpoint/2010/main" val="1669717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550F88-834C-26C6-4874-30584DF71A76}"/>
              </a:ext>
            </a:extLst>
          </p:cNvPr>
          <p:cNvSpPr txBox="1"/>
          <p:nvPr/>
        </p:nvSpPr>
        <p:spPr>
          <a:xfrm>
            <a:off x="1975757" y="1110343"/>
            <a:ext cx="13781314"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 ARCHITECTURE</a:t>
            </a:r>
          </a:p>
        </p:txBody>
      </p:sp>
      <p:sp>
        <p:nvSpPr>
          <p:cNvPr id="4" name="AutoShape 2" descr="Selected image presented in a lightbox.">
            <a:extLst>
              <a:ext uri="{FF2B5EF4-FFF2-40B4-BE49-F238E27FC236}">
                <a16:creationId xmlns:a16="http://schemas.microsoft.com/office/drawing/2014/main" id="{35C4B442-BB11-18AA-BAC0-ACB44730A10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EDE47B83-78C4-A8EA-965D-9BD67081F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9204" y="2103119"/>
            <a:ext cx="14249591" cy="7073538"/>
          </a:xfrm>
          <a:prstGeom prst="rect">
            <a:avLst/>
          </a:prstGeom>
        </p:spPr>
      </p:pic>
    </p:spTree>
    <p:extLst>
      <p:ext uri="{BB962C8B-B14F-4D97-AF65-F5344CB8AC3E}">
        <p14:creationId xmlns:p14="http://schemas.microsoft.com/office/powerpoint/2010/main" val="459624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E7A6B1-0B37-CB59-4F25-C8078069BEF0}"/>
              </a:ext>
            </a:extLst>
          </p:cNvPr>
          <p:cNvSpPr>
            <a:spLocks noGrp="1"/>
          </p:cNvSpPr>
          <p:nvPr>
            <p:ph idx="1"/>
          </p:nvPr>
        </p:nvSpPr>
        <p:spPr>
          <a:xfrm>
            <a:off x="1077686" y="1049620"/>
            <a:ext cx="15773400" cy="8187759"/>
          </a:xfrm>
        </p:spPr>
        <p:txBody>
          <a:bodyPr>
            <a:normAutofit/>
          </a:bodyPr>
          <a:lstStyle/>
          <a:p>
            <a:pPr marL="0" indent="0" algn="ctr">
              <a:buNone/>
            </a:pPr>
            <a:r>
              <a:rPr lang="en-IN" sz="3200" b="1" dirty="0">
                <a:solidFill>
                  <a:schemeClr val="tx1"/>
                </a:solidFill>
                <a:latin typeface="Times New Roman" panose="02020603050405020304" pitchFamily="18" charset="0"/>
                <a:cs typeface="Times New Roman" panose="02020603050405020304" pitchFamily="18" charset="0"/>
              </a:rPr>
              <a:t>MODULES</a:t>
            </a:r>
          </a:p>
        </p:txBody>
      </p:sp>
      <p:sp>
        <p:nvSpPr>
          <p:cNvPr id="5" name="TextBox 4">
            <a:extLst>
              <a:ext uri="{FF2B5EF4-FFF2-40B4-BE49-F238E27FC236}">
                <a16:creationId xmlns:a16="http://schemas.microsoft.com/office/drawing/2014/main" id="{5381F9E5-9E17-2D8B-553A-D65E72A11B15}"/>
              </a:ext>
            </a:extLst>
          </p:cNvPr>
          <p:cNvSpPr txBox="1"/>
          <p:nvPr/>
        </p:nvSpPr>
        <p:spPr>
          <a:xfrm>
            <a:off x="1722120" y="1341120"/>
            <a:ext cx="14538960" cy="7383047"/>
          </a:xfrm>
          <a:prstGeom prst="rect">
            <a:avLst/>
          </a:prstGeom>
          <a:noFill/>
        </p:spPr>
        <p:txBody>
          <a:bodyPr wrap="square">
            <a:spAutoFit/>
          </a:bodyPr>
          <a:lstStyle/>
          <a:p>
            <a:endParaRPr lang="en-IN" sz="1800" b="1" dirty="0">
              <a:latin typeface="Times New Roman" panose="02020603050405020304" pitchFamily="18" charset="0"/>
              <a:cs typeface="Times New Roman" panose="02020603050405020304" pitchFamily="18" charset="0"/>
            </a:endParaRPr>
          </a:p>
          <a:p>
            <a:pPr marL="457200" indent="-457200">
              <a:lnSpc>
                <a:spcPct val="150000"/>
              </a:lnSpc>
              <a:buAutoNum type="arabicPeriod"/>
            </a:pPr>
            <a:r>
              <a:rPr lang="en-US" sz="2400" b="1" dirty="0">
                <a:latin typeface="Times New Roman" panose="02020603050405020304" pitchFamily="18" charset="0"/>
                <a:cs typeface="Times New Roman" panose="02020603050405020304" pitchFamily="18" charset="0"/>
              </a:rPr>
              <a:t>Dataset Acquisition &amp; Preprocessing</a:t>
            </a:r>
          </a:p>
          <a:p>
            <a:pPr marL="457200" indent="-45720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Collects </a:t>
            </a:r>
            <a:r>
              <a:rPr lang="en-US" sz="2400" dirty="0" err="1">
                <a:latin typeface="Times New Roman" panose="02020603050405020304" pitchFamily="18" charset="0"/>
                <a:cs typeface="Times New Roman" panose="02020603050405020304" pitchFamily="18" charset="0"/>
              </a:rPr>
              <a:t>bioacoustic</a:t>
            </a:r>
            <a:r>
              <a:rPr lang="en-US" sz="2400" dirty="0">
                <a:latin typeface="Times New Roman" panose="02020603050405020304" pitchFamily="18" charset="0"/>
                <a:cs typeface="Times New Roman" panose="02020603050405020304" pitchFamily="18" charset="0"/>
              </a:rPr>
              <a:t> audio files (.wav) for different animal species.</a:t>
            </a:r>
          </a:p>
          <a:p>
            <a:pPr marL="457200" indent="-45720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Converts stereo audio to mono for uniform input.</a:t>
            </a:r>
          </a:p>
          <a:p>
            <a:pPr>
              <a:lnSpc>
                <a:spcPct val="150000"/>
              </a:lnSpc>
            </a:pP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2. Audio Feature Extraction</a:t>
            </a:r>
          </a:p>
          <a:p>
            <a:pPr marL="457200" indent="-45720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Extracts important sound features such as MFCCs, Chroma, Spectral Contrast.</a:t>
            </a:r>
          </a:p>
          <a:p>
            <a:pPr marL="457200" indent="-45720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Converts raw sounds into numerical data that the model can understand.</a:t>
            </a:r>
          </a:p>
          <a:p>
            <a:pPr>
              <a:lnSpc>
                <a:spcPct val="150000"/>
              </a:lnSpc>
            </a:pPr>
            <a:endParaRPr lang="en-US" sz="2400" dirty="0">
              <a:latin typeface="Times New Roman" panose="02020603050405020304" pitchFamily="18" charset="0"/>
              <a:cs typeface="Times New Roman" panose="02020603050405020304" pitchFamily="18" charset="0"/>
            </a:endParaRPr>
          </a:p>
          <a:p>
            <a:pPr marL="68580" indent="0">
              <a:lnSpc>
                <a:spcPct val="150000"/>
              </a:lnSpc>
              <a:buNone/>
            </a:pPr>
            <a:r>
              <a:rPr lang="en-US" sz="2400" b="1" dirty="0">
                <a:latin typeface="Times New Roman" panose="02020603050405020304" pitchFamily="18" charset="0"/>
                <a:cs typeface="Times New Roman" panose="02020603050405020304" pitchFamily="18" charset="0"/>
              </a:rPr>
              <a:t>3.Model Training &amp; Evaluation</a:t>
            </a:r>
          </a:p>
          <a:p>
            <a:pPr indent="-34290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Trains multiple machine learning models (SVC, Decision Tree, and hybrid SVC–LGBM).</a:t>
            </a:r>
          </a:p>
          <a:p>
            <a:pPr marL="457200" indent="-45720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Uses extracted features to teach the system how to recognize species.</a:t>
            </a:r>
          </a:p>
          <a:p>
            <a:pPr marL="457200" indent="-45720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Tests the models using accuracy, precision, recall, and F-score.</a:t>
            </a:r>
            <a:endParaRPr lang="en-US" sz="1800" dirty="0">
              <a:latin typeface="Times New Roman" panose="02020603050405020304" pitchFamily="18" charset="0"/>
              <a:cs typeface="Times New Roman" panose="02020603050405020304" pitchFamily="18" charset="0"/>
            </a:endParaRPr>
          </a:p>
          <a:p>
            <a:pPr>
              <a:lnSpc>
                <a:spcPct val="15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7917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87BEA1-8D64-6CFD-85B6-CA1599CFEFF4}"/>
              </a:ext>
            </a:extLst>
          </p:cNvPr>
          <p:cNvSpPr>
            <a:spLocks noGrp="1"/>
          </p:cNvSpPr>
          <p:nvPr>
            <p:ph idx="1"/>
          </p:nvPr>
        </p:nvSpPr>
        <p:spPr>
          <a:xfrm>
            <a:off x="1714501" y="1322614"/>
            <a:ext cx="14809307" cy="7821386"/>
          </a:xfrm>
        </p:spPr>
        <p:txBody>
          <a:bodyPr>
            <a:normAutofit lnSpcReduction="10000"/>
          </a:bodyPr>
          <a:lstStyle/>
          <a:p>
            <a:pPr marL="68580" indent="0">
              <a:lnSpc>
                <a:spcPct val="150000"/>
              </a:lnSpc>
              <a:buClr>
                <a:schemeClr val="tx1"/>
              </a:buClr>
              <a:buNone/>
            </a:pPr>
            <a:r>
              <a:rPr lang="en-US" sz="2400" b="1" dirty="0">
                <a:solidFill>
                  <a:schemeClr val="tx1"/>
                </a:solidFill>
                <a:latin typeface="Times New Roman" panose="02020603050405020304" pitchFamily="18" charset="0"/>
                <a:cs typeface="Times New Roman" panose="02020603050405020304" pitchFamily="18" charset="0"/>
              </a:rPr>
              <a:t>4. Species Prediction &amp; Visualization</a:t>
            </a:r>
          </a:p>
          <a:p>
            <a:pPr indent="-342900">
              <a:lnSpc>
                <a:spcPct val="150000"/>
              </a:lnSpc>
              <a:buClr>
                <a:schemeClr val="tx1"/>
              </a:buClr>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Allows users to upload a new test audio file for prediction.</a:t>
            </a:r>
          </a:p>
          <a:p>
            <a:pPr indent="-342900">
              <a:lnSpc>
                <a:spcPct val="150000"/>
              </a:lnSpc>
              <a:buClr>
                <a:schemeClr val="tx1"/>
              </a:buClr>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The trained hybrid model identifies the animal species automatically.</a:t>
            </a:r>
          </a:p>
          <a:p>
            <a:pPr indent="-342900">
              <a:lnSpc>
                <a:spcPct val="150000"/>
              </a:lnSpc>
              <a:buClr>
                <a:schemeClr val="tx1"/>
              </a:buClr>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Plays back the sound for verification and shows the waveform graph.</a:t>
            </a:r>
          </a:p>
          <a:p>
            <a:pPr indent="-342900">
              <a:lnSpc>
                <a:spcPct val="150000"/>
              </a:lnSpc>
              <a:buClr>
                <a:schemeClr val="tx1"/>
              </a:buClr>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Displays the predicted species name clearly on the interface.</a:t>
            </a:r>
          </a:p>
          <a:p>
            <a:pPr marL="68580" indent="0">
              <a:lnSpc>
                <a:spcPct val="150000"/>
              </a:lnSpc>
              <a:buClr>
                <a:schemeClr val="tx1"/>
              </a:buClr>
              <a:buNone/>
            </a:pPr>
            <a:r>
              <a:rPr lang="en-US" sz="2400" b="1" dirty="0">
                <a:solidFill>
                  <a:schemeClr val="tx1"/>
                </a:solidFill>
                <a:latin typeface="Times New Roman" panose="02020603050405020304" pitchFamily="18" charset="0"/>
                <a:cs typeface="Times New Roman" panose="02020603050405020304" pitchFamily="18" charset="0"/>
              </a:rPr>
              <a:t>5. Graphical User Interface (GUI)</a:t>
            </a:r>
          </a:p>
          <a:p>
            <a:pPr marL="457200" indent="-457200">
              <a:lnSpc>
                <a:spcPct val="150000"/>
              </a:lnSpc>
              <a:buClr>
                <a:schemeClr val="tx1"/>
              </a:buClr>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Built using </a:t>
            </a:r>
            <a:r>
              <a:rPr lang="en-US" sz="2400" dirty="0" err="1">
                <a:solidFill>
                  <a:schemeClr val="tx1"/>
                </a:solidFill>
                <a:latin typeface="Times New Roman" panose="02020603050405020304" pitchFamily="18" charset="0"/>
                <a:cs typeface="Times New Roman" panose="02020603050405020304" pitchFamily="18" charset="0"/>
              </a:rPr>
              <a:t>Tkinter</a:t>
            </a:r>
            <a:r>
              <a:rPr lang="en-US" sz="2400" dirty="0">
                <a:solidFill>
                  <a:schemeClr val="tx1"/>
                </a:solidFill>
                <a:latin typeface="Times New Roman" panose="02020603050405020304" pitchFamily="18" charset="0"/>
                <a:cs typeface="Times New Roman" panose="02020603050405020304" pitchFamily="18" charset="0"/>
              </a:rPr>
              <a:t> for easy interaction.</a:t>
            </a:r>
          </a:p>
          <a:p>
            <a:pPr marL="457200" indent="-457200">
              <a:lnSpc>
                <a:spcPct val="150000"/>
              </a:lnSpc>
              <a:buClr>
                <a:schemeClr val="tx1"/>
              </a:buClr>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Lets users upload data, extract features, train models, and predict species.</a:t>
            </a:r>
          </a:p>
          <a:p>
            <a:pPr marL="457200" indent="-457200">
              <a:lnSpc>
                <a:spcPct val="150000"/>
              </a:lnSpc>
              <a:buClr>
                <a:schemeClr val="tx1"/>
              </a:buClr>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Provides real-time visualization and audio playback.</a:t>
            </a:r>
          </a:p>
          <a:p>
            <a:pPr marL="457200" indent="-457200">
              <a:lnSpc>
                <a:spcPct val="150000"/>
              </a:lnSpc>
              <a:buClr>
                <a:schemeClr val="tx1"/>
              </a:buClr>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Makes the system user-friendly for researchers and wildlife experts.</a:t>
            </a:r>
          </a:p>
          <a:p>
            <a:pPr indent="-342900">
              <a:lnSpc>
                <a:spcPct val="150000"/>
              </a:lnSpc>
              <a:buClr>
                <a:schemeClr val="tx1"/>
              </a:buClr>
              <a:buFont typeface="Wingdings" panose="05000000000000000000" pitchFamily="2" charset="2"/>
              <a:buChar char="§"/>
            </a:pPr>
            <a:endParaRPr lang="en-US" sz="2400" dirty="0">
              <a:solidFill>
                <a:schemeClr val="tx1"/>
              </a:solidFill>
              <a:latin typeface="Times New Roman" panose="02020603050405020304" pitchFamily="18" charset="0"/>
              <a:cs typeface="Times New Roman" panose="02020603050405020304" pitchFamily="18" charset="0"/>
            </a:endParaRPr>
          </a:p>
          <a:p>
            <a:pPr marL="0" indent="0">
              <a:lnSpc>
                <a:spcPct val="150000"/>
              </a:lnSpc>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nSpc>
                <a:spcPct val="150000"/>
              </a:lnSpc>
              <a:buNone/>
            </a:pPr>
            <a:endParaRPr lang="en-US" sz="2400" dirty="0">
              <a:solidFill>
                <a:schemeClr val="tx1"/>
              </a:solidFill>
              <a:latin typeface="Times New Roman" panose="02020603050405020304" pitchFamily="18" charset="0"/>
              <a:cs typeface="Times New Roman" panose="02020603050405020304" pitchFamily="18" charset="0"/>
            </a:endParaRPr>
          </a:p>
          <a:p>
            <a:pPr marL="6858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7780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E09F78-5D00-42AB-3F5C-656C3BFC3B27}"/>
              </a:ext>
            </a:extLst>
          </p:cNvPr>
          <p:cNvSpPr>
            <a:spLocks noGrp="1"/>
          </p:cNvSpPr>
          <p:nvPr>
            <p:ph idx="1"/>
          </p:nvPr>
        </p:nvSpPr>
        <p:spPr>
          <a:xfrm>
            <a:off x="1175657" y="1159330"/>
            <a:ext cx="15855043" cy="8106116"/>
          </a:xfrm>
        </p:spPr>
        <p:txBody>
          <a:bodyPr>
            <a:normAutofit/>
          </a:bodyPr>
          <a:lstStyle/>
          <a:p>
            <a:pPr marL="0" indent="0" algn="ctr">
              <a:buNone/>
            </a:pPr>
            <a:r>
              <a:rPr lang="en-IN" sz="3200" b="1" dirty="0">
                <a:solidFill>
                  <a:schemeClr val="tx1"/>
                </a:solidFill>
                <a:latin typeface="Times New Roman" panose="02020603050405020304" pitchFamily="18" charset="0"/>
                <a:cs typeface="Times New Roman" panose="02020603050405020304" pitchFamily="18" charset="0"/>
              </a:rPr>
              <a:t>UML DIAGRAMS</a:t>
            </a:r>
          </a:p>
          <a:p>
            <a:pPr marL="0" indent="0">
              <a:buNone/>
            </a:pPr>
            <a:r>
              <a:rPr lang="en-IN" sz="2400" b="1" dirty="0">
                <a:solidFill>
                  <a:schemeClr val="tx1"/>
                </a:solidFill>
                <a:latin typeface="Times New Roman" panose="02020603050405020304" pitchFamily="18" charset="0"/>
                <a:cs typeface="Times New Roman" panose="02020603050405020304" pitchFamily="18" charset="0"/>
              </a:rPr>
              <a:t>USE CASE DIAGRAM</a:t>
            </a:r>
          </a:p>
          <a:p>
            <a:pPr marL="0" indent="0">
              <a:buNone/>
            </a:pPr>
            <a:endParaRPr lang="en-IN" sz="2400" b="1" dirty="0">
              <a:latin typeface="Times New Roman" panose="02020603050405020304" pitchFamily="18" charset="0"/>
              <a:cs typeface="Times New Roman" panose="02020603050405020304" pitchFamily="18" charset="0"/>
            </a:endParaRPr>
          </a:p>
          <a:p>
            <a:pPr marL="0" indent="0" algn="ctr">
              <a:buNone/>
            </a:pPr>
            <a:endParaRPr lang="en-IN" sz="3200" dirty="0">
              <a:latin typeface="Times New Roman" panose="02020603050405020304" pitchFamily="18" charset="0"/>
              <a:cs typeface="Times New Roman" panose="02020603050405020304" pitchFamily="18" charset="0"/>
            </a:endParaRPr>
          </a:p>
        </p:txBody>
      </p:sp>
      <p:pic>
        <p:nvPicPr>
          <p:cNvPr id="6" name="Picture 5" descr="PlantUML diagram">
            <a:extLst>
              <a:ext uri="{FF2B5EF4-FFF2-40B4-BE49-F238E27FC236}">
                <a16:creationId xmlns:a16="http://schemas.microsoft.com/office/drawing/2014/main" id="{B7C45802-5A13-B759-8B9E-2CFBE956609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47157" y="3690258"/>
            <a:ext cx="15307627" cy="4000500"/>
          </a:xfrm>
          <a:prstGeom prst="rect">
            <a:avLst/>
          </a:prstGeom>
          <a:noFill/>
          <a:ln>
            <a:noFill/>
          </a:ln>
        </p:spPr>
      </p:pic>
    </p:spTree>
    <p:extLst>
      <p:ext uri="{BB962C8B-B14F-4D97-AF65-F5344CB8AC3E}">
        <p14:creationId xmlns:p14="http://schemas.microsoft.com/office/powerpoint/2010/main" val="3358858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1FF867-EDEA-EC87-D90B-73ADFD5F9E2E}"/>
              </a:ext>
            </a:extLst>
          </p:cNvPr>
          <p:cNvSpPr>
            <a:spLocks noGrp="1"/>
          </p:cNvSpPr>
          <p:nvPr>
            <p:ph idx="1"/>
          </p:nvPr>
        </p:nvSpPr>
        <p:spPr>
          <a:xfrm>
            <a:off x="1257300" y="914400"/>
            <a:ext cx="15773400" cy="8351045"/>
          </a:xfrm>
        </p:spPr>
        <p:txBody>
          <a:bodyPr>
            <a:normAutofit/>
          </a:bodyPr>
          <a:lstStyle/>
          <a:p>
            <a:pPr marL="0" indent="0">
              <a:buNone/>
            </a:pPr>
            <a:r>
              <a:rPr lang="en-IN" sz="2400" b="1" dirty="0">
                <a:solidFill>
                  <a:schemeClr val="tx1"/>
                </a:solidFill>
                <a:latin typeface="Times New Roman" panose="02020603050405020304" pitchFamily="18" charset="0"/>
                <a:cs typeface="Times New Roman" panose="02020603050405020304" pitchFamily="18" charset="0"/>
              </a:rPr>
              <a:t>CLASS DIAGRAM</a:t>
            </a:r>
          </a:p>
        </p:txBody>
      </p:sp>
      <p:pic>
        <p:nvPicPr>
          <p:cNvPr id="4" name="Picture 3" descr="PlantUML diagram">
            <a:extLst>
              <a:ext uri="{FF2B5EF4-FFF2-40B4-BE49-F238E27FC236}">
                <a16:creationId xmlns:a16="http://schemas.microsoft.com/office/drawing/2014/main" id="{4D2D4E14-B66E-C132-0B39-1C73F1B79C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96644" y="1021555"/>
            <a:ext cx="6841670" cy="8754973"/>
          </a:xfrm>
          <a:prstGeom prst="rect">
            <a:avLst/>
          </a:prstGeom>
          <a:noFill/>
          <a:ln>
            <a:noFill/>
          </a:ln>
        </p:spPr>
      </p:pic>
    </p:spTree>
    <p:extLst>
      <p:ext uri="{BB962C8B-B14F-4D97-AF65-F5344CB8AC3E}">
        <p14:creationId xmlns:p14="http://schemas.microsoft.com/office/powerpoint/2010/main" val="4017094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622A59-C828-BE51-B246-8EF0331707AA}"/>
              </a:ext>
            </a:extLst>
          </p:cNvPr>
          <p:cNvSpPr>
            <a:spLocks noGrp="1"/>
          </p:cNvSpPr>
          <p:nvPr>
            <p:ph idx="1"/>
          </p:nvPr>
        </p:nvSpPr>
        <p:spPr>
          <a:xfrm>
            <a:off x="1240971" y="1012372"/>
            <a:ext cx="15789729" cy="8253074"/>
          </a:xfrm>
        </p:spPr>
        <p:txBody>
          <a:bodyPr>
            <a:normAutofit/>
          </a:bodyPr>
          <a:lstStyle/>
          <a:p>
            <a:pPr marL="0" indent="0">
              <a:buNone/>
            </a:pPr>
            <a:r>
              <a:rPr lang="en-IN" sz="2400" b="1" dirty="0">
                <a:solidFill>
                  <a:schemeClr val="tx1"/>
                </a:solidFill>
                <a:latin typeface="Times New Roman" panose="02020603050405020304" pitchFamily="18" charset="0"/>
                <a:cs typeface="Times New Roman" panose="02020603050405020304" pitchFamily="18" charset="0"/>
              </a:rPr>
              <a:t>SEQUENCE DIAGRAM</a:t>
            </a:r>
          </a:p>
        </p:txBody>
      </p:sp>
      <p:pic>
        <p:nvPicPr>
          <p:cNvPr id="4" name="Picture 3" descr="PlantUML diagram">
            <a:extLst>
              <a:ext uri="{FF2B5EF4-FFF2-40B4-BE49-F238E27FC236}">
                <a16:creationId xmlns:a16="http://schemas.microsoft.com/office/drawing/2014/main" id="{BB03E504-8948-0376-E8C8-8B53F67B58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8799" y="2409628"/>
            <a:ext cx="13454743" cy="6813020"/>
          </a:xfrm>
          <a:prstGeom prst="rect">
            <a:avLst/>
          </a:prstGeom>
          <a:noFill/>
          <a:ln>
            <a:noFill/>
          </a:ln>
        </p:spPr>
      </p:pic>
    </p:spTree>
    <p:extLst>
      <p:ext uri="{BB962C8B-B14F-4D97-AF65-F5344CB8AC3E}">
        <p14:creationId xmlns:p14="http://schemas.microsoft.com/office/powerpoint/2010/main" val="3016180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455629-3822-57B7-DD2F-623A5A471A35}"/>
              </a:ext>
            </a:extLst>
          </p:cNvPr>
          <p:cNvSpPr txBox="1"/>
          <p:nvPr/>
        </p:nvSpPr>
        <p:spPr>
          <a:xfrm>
            <a:off x="1681842" y="1143000"/>
            <a:ext cx="5176157"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ACTIVITY DIAGRAM</a:t>
            </a:r>
          </a:p>
        </p:txBody>
      </p:sp>
      <p:pic>
        <p:nvPicPr>
          <p:cNvPr id="5" name="Picture 4">
            <a:extLst>
              <a:ext uri="{FF2B5EF4-FFF2-40B4-BE49-F238E27FC236}">
                <a16:creationId xmlns:a16="http://schemas.microsoft.com/office/drawing/2014/main" id="{844C3943-E82A-5488-C8C7-AFD2189A6D50}"/>
              </a:ext>
            </a:extLst>
          </p:cNvPr>
          <p:cNvPicPr>
            <a:picLocks noChangeAspect="1"/>
          </p:cNvPicPr>
          <p:nvPr/>
        </p:nvPicPr>
        <p:blipFill>
          <a:blip r:embed="rId2"/>
          <a:stretch>
            <a:fillRect/>
          </a:stretch>
        </p:blipFill>
        <p:spPr>
          <a:xfrm>
            <a:off x="6172200" y="1373832"/>
            <a:ext cx="7330440" cy="7236768"/>
          </a:xfrm>
          <a:prstGeom prst="rect">
            <a:avLst/>
          </a:prstGeom>
        </p:spPr>
      </p:pic>
    </p:spTree>
    <p:extLst>
      <p:ext uri="{BB962C8B-B14F-4D97-AF65-F5344CB8AC3E}">
        <p14:creationId xmlns:p14="http://schemas.microsoft.com/office/powerpoint/2010/main" val="225747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Thank You Slide Royalty-Free Images, Stock Photos &amp; Pictures ...">
            <a:extLst>
              <a:ext uri="{FF2B5EF4-FFF2-40B4-BE49-F238E27FC236}">
                <a16:creationId xmlns:a16="http://schemas.microsoft.com/office/drawing/2014/main" id="{999FAFC1-5CD2-C4A7-67BB-4D30DACAE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4100" y="1524000"/>
            <a:ext cx="12750800" cy="6057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Basi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Basis</Template>
  <TotalTime>890</TotalTime>
  <Words>1011</Words>
  <Application>Microsoft Office PowerPoint</Application>
  <PresentationFormat>Custom</PresentationFormat>
  <Paragraphs>148</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Corbel</vt:lpstr>
      <vt:lpstr>Arial</vt:lpstr>
      <vt:lpstr>Bell MT</vt:lpstr>
      <vt:lpstr>Calibri</vt:lpstr>
      <vt:lpstr>Times New Roman</vt:lpstr>
      <vt:lpstr>Wingdings</vt:lpstr>
      <vt:lpstr>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Major Project_15 finally</dc:title>
  <dc:creator>hansh</dc:creator>
  <cp:lastModifiedBy>Srinithya Dande</cp:lastModifiedBy>
  <cp:revision>21</cp:revision>
  <dcterms:created xsi:type="dcterms:W3CDTF">2006-08-15T13:00:00Z</dcterms:created>
  <dcterms:modified xsi:type="dcterms:W3CDTF">2026-02-03T03:14:45Z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5fcd79e92c554ddd8840560c20afa567</vt:lpwstr>
  </property>
</Properties>
</file>